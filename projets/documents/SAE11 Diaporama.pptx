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71" r:id="rId11"/>
    <p:sldId id="284" r:id="rId12"/>
    <p:sldId id="262" r:id="rId13"/>
    <p:sldId id="272" r:id="rId14"/>
    <p:sldId id="273" r:id="rId15"/>
    <p:sldId id="275" r:id="rId16"/>
    <p:sldId id="263" r:id="rId17"/>
    <p:sldId id="276" r:id="rId18"/>
    <p:sldId id="277" r:id="rId19"/>
    <p:sldId id="264" r:id="rId20"/>
    <p:sldId id="266" r:id="rId21"/>
    <p:sldId id="269" r:id="rId22"/>
    <p:sldId id="270" r:id="rId23"/>
    <p:sldId id="282" r:id="rId24"/>
    <p:sldId id="267" r:id="rId25"/>
    <p:sldId id="278" r:id="rId26"/>
    <p:sldId id="280" r:id="rId27"/>
    <p:sldId id="283" r:id="rId28"/>
    <p:sldId id="268" r:id="rId29"/>
    <p:sldId id="265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D5001D-0E77-787B-6E74-0438CDCB6837}" v="40" dt="2023-10-18T12:53:32.786"/>
    <p1510:client id="{8C03808F-DFAC-1563-7EAF-F9A3C2DB5B23}" v="519" dt="2023-10-18T13:49:10.085"/>
    <p1510:client id="{DF3B5EDC-E49D-4AF7-A4F7-953C96241C5D}" v="871" dt="2024-01-02T12:04:10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3E3A4-1309-4634-977D-5865A5D1C8D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8A980B-B2BF-4E05-8A26-A8649B0F662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I. Le travail préalable, la préparation</a:t>
          </a:r>
          <a:endParaRPr lang="en-US"/>
        </a:p>
      </dgm:t>
    </dgm:pt>
    <dgm:pt modelId="{DE99A0CF-74E5-48BE-9F08-BCE5ED0F296D}" type="parTrans" cxnId="{3EC6442F-9016-4141-B7BB-6E8AF9BEDC7F}">
      <dgm:prSet/>
      <dgm:spPr/>
      <dgm:t>
        <a:bodyPr/>
        <a:lstStyle/>
        <a:p>
          <a:endParaRPr lang="en-US"/>
        </a:p>
      </dgm:t>
    </dgm:pt>
    <dgm:pt modelId="{F40BBC06-87C5-4380-B9F8-AED465B8B94C}" type="sibTrans" cxnId="{3EC6442F-9016-4141-B7BB-6E8AF9BEDC7F}">
      <dgm:prSet/>
      <dgm:spPr/>
      <dgm:t>
        <a:bodyPr/>
        <a:lstStyle/>
        <a:p>
          <a:endParaRPr lang="en-US"/>
        </a:p>
      </dgm:t>
    </dgm:pt>
    <dgm:pt modelId="{20744F37-D597-4675-86DC-76C0054C0E4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II. Réalisation de l’attaque</a:t>
          </a:r>
          <a:endParaRPr lang="en-US"/>
        </a:p>
      </dgm:t>
    </dgm:pt>
    <dgm:pt modelId="{8A046A0E-A932-407E-BDAA-ECDCBC463152}" type="parTrans" cxnId="{82FF7281-0066-43C7-AF6B-2976C294220A}">
      <dgm:prSet/>
      <dgm:spPr/>
      <dgm:t>
        <a:bodyPr/>
        <a:lstStyle/>
        <a:p>
          <a:endParaRPr lang="en-US"/>
        </a:p>
      </dgm:t>
    </dgm:pt>
    <dgm:pt modelId="{9E35102B-6965-4B8C-B3DA-A3B57BA78745}" type="sibTrans" cxnId="{82FF7281-0066-43C7-AF6B-2976C294220A}">
      <dgm:prSet/>
      <dgm:spPr/>
      <dgm:t>
        <a:bodyPr/>
        <a:lstStyle/>
        <a:p>
          <a:endParaRPr lang="en-US"/>
        </a:p>
      </dgm:t>
    </dgm:pt>
    <dgm:pt modelId="{5AD55882-C3EE-4ED1-A500-B84BD7B22273}" type="pres">
      <dgm:prSet presAssocID="{C673E3A4-1309-4634-977D-5865A5D1C8D6}" presName="root" presStyleCnt="0">
        <dgm:presLayoutVars>
          <dgm:dir/>
          <dgm:resizeHandles val="exact"/>
        </dgm:presLayoutVars>
      </dgm:prSet>
      <dgm:spPr/>
    </dgm:pt>
    <dgm:pt modelId="{106A5430-29F3-4CBA-904A-DD4DE8396A30}" type="pres">
      <dgm:prSet presAssocID="{B08A980B-B2BF-4E05-8A26-A8649B0F6625}" presName="compNode" presStyleCnt="0"/>
      <dgm:spPr/>
    </dgm:pt>
    <dgm:pt modelId="{C9DE0CFE-95F7-427A-A75D-8B6CCDA31BFD}" type="pres">
      <dgm:prSet presAssocID="{B08A980B-B2BF-4E05-8A26-A8649B0F6625}" presName="bgRect" presStyleLbl="bgShp" presStyleIdx="0" presStyleCnt="2"/>
      <dgm:spPr/>
    </dgm:pt>
    <dgm:pt modelId="{951B58A9-F33D-4DB6-9FB4-3B6945F96F5A}" type="pres">
      <dgm:prSet presAssocID="{B08A980B-B2BF-4E05-8A26-A8649B0F66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3E0D49C-EDCD-4317-9F0B-14937CAC9535}" type="pres">
      <dgm:prSet presAssocID="{B08A980B-B2BF-4E05-8A26-A8649B0F6625}" presName="spaceRect" presStyleCnt="0"/>
      <dgm:spPr/>
    </dgm:pt>
    <dgm:pt modelId="{749EB032-B6BC-4017-A227-CD3ED4EC99D8}" type="pres">
      <dgm:prSet presAssocID="{B08A980B-B2BF-4E05-8A26-A8649B0F6625}" presName="parTx" presStyleLbl="revTx" presStyleIdx="0" presStyleCnt="2">
        <dgm:presLayoutVars>
          <dgm:chMax val="0"/>
          <dgm:chPref val="0"/>
        </dgm:presLayoutVars>
      </dgm:prSet>
      <dgm:spPr/>
    </dgm:pt>
    <dgm:pt modelId="{FF9786B6-9FD5-43D1-A53C-C3E94B106355}" type="pres">
      <dgm:prSet presAssocID="{F40BBC06-87C5-4380-B9F8-AED465B8B94C}" presName="sibTrans" presStyleCnt="0"/>
      <dgm:spPr/>
    </dgm:pt>
    <dgm:pt modelId="{9555B87E-F359-4FC6-91C4-57FDED21587F}" type="pres">
      <dgm:prSet presAssocID="{20744F37-D597-4675-86DC-76C0054C0E4F}" presName="compNode" presStyleCnt="0"/>
      <dgm:spPr/>
    </dgm:pt>
    <dgm:pt modelId="{AA3C0217-DCCA-470D-9E47-58429640FFF6}" type="pres">
      <dgm:prSet presAssocID="{20744F37-D597-4675-86DC-76C0054C0E4F}" presName="bgRect" presStyleLbl="bgShp" presStyleIdx="1" presStyleCnt="2"/>
      <dgm:spPr/>
    </dgm:pt>
    <dgm:pt modelId="{CF379A5B-4AF0-40A4-BBDB-36DE9147947D}" type="pres">
      <dgm:prSet presAssocID="{20744F37-D597-4675-86DC-76C0054C0E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A906EA81-F06C-4E7E-98EC-42301D149D74}" type="pres">
      <dgm:prSet presAssocID="{20744F37-D597-4675-86DC-76C0054C0E4F}" presName="spaceRect" presStyleCnt="0"/>
      <dgm:spPr/>
    </dgm:pt>
    <dgm:pt modelId="{A1B044D7-BD42-4E86-A679-3893A0FFF9EB}" type="pres">
      <dgm:prSet presAssocID="{20744F37-D597-4675-86DC-76C0054C0E4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EC6442F-9016-4141-B7BB-6E8AF9BEDC7F}" srcId="{C673E3A4-1309-4634-977D-5865A5D1C8D6}" destId="{B08A980B-B2BF-4E05-8A26-A8649B0F6625}" srcOrd="0" destOrd="0" parTransId="{DE99A0CF-74E5-48BE-9F08-BCE5ED0F296D}" sibTransId="{F40BBC06-87C5-4380-B9F8-AED465B8B94C}"/>
    <dgm:cxn modelId="{37DE4B68-7BA1-4B12-B5EE-12202D8F70FC}" type="presOf" srcId="{B08A980B-B2BF-4E05-8A26-A8649B0F6625}" destId="{749EB032-B6BC-4017-A227-CD3ED4EC99D8}" srcOrd="0" destOrd="0" presId="urn:microsoft.com/office/officeart/2018/2/layout/IconVerticalSolidList"/>
    <dgm:cxn modelId="{82FF7281-0066-43C7-AF6B-2976C294220A}" srcId="{C673E3A4-1309-4634-977D-5865A5D1C8D6}" destId="{20744F37-D597-4675-86DC-76C0054C0E4F}" srcOrd="1" destOrd="0" parTransId="{8A046A0E-A932-407E-BDAA-ECDCBC463152}" sibTransId="{9E35102B-6965-4B8C-B3DA-A3B57BA78745}"/>
    <dgm:cxn modelId="{D9A5C085-810B-4911-BF5C-A1656290F80D}" type="presOf" srcId="{C673E3A4-1309-4634-977D-5865A5D1C8D6}" destId="{5AD55882-C3EE-4ED1-A500-B84BD7B22273}" srcOrd="0" destOrd="0" presId="urn:microsoft.com/office/officeart/2018/2/layout/IconVerticalSolidList"/>
    <dgm:cxn modelId="{49141BEB-7C85-4A98-965B-713DB34675E4}" type="presOf" srcId="{20744F37-D597-4675-86DC-76C0054C0E4F}" destId="{A1B044D7-BD42-4E86-A679-3893A0FFF9EB}" srcOrd="0" destOrd="0" presId="urn:microsoft.com/office/officeart/2018/2/layout/IconVerticalSolidList"/>
    <dgm:cxn modelId="{14F67EE0-E3A8-4E94-B2AF-96CABAD03255}" type="presParOf" srcId="{5AD55882-C3EE-4ED1-A500-B84BD7B22273}" destId="{106A5430-29F3-4CBA-904A-DD4DE8396A30}" srcOrd="0" destOrd="0" presId="urn:microsoft.com/office/officeart/2018/2/layout/IconVerticalSolidList"/>
    <dgm:cxn modelId="{4307D65E-13AE-4F26-94D9-D111E819D701}" type="presParOf" srcId="{106A5430-29F3-4CBA-904A-DD4DE8396A30}" destId="{C9DE0CFE-95F7-427A-A75D-8B6CCDA31BFD}" srcOrd="0" destOrd="0" presId="urn:microsoft.com/office/officeart/2018/2/layout/IconVerticalSolidList"/>
    <dgm:cxn modelId="{717DBA38-2EE1-4DDE-A43F-9F3AFDB9AA5C}" type="presParOf" srcId="{106A5430-29F3-4CBA-904A-DD4DE8396A30}" destId="{951B58A9-F33D-4DB6-9FB4-3B6945F96F5A}" srcOrd="1" destOrd="0" presId="urn:microsoft.com/office/officeart/2018/2/layout/IconVerticalSolidList"/>
    <dgm:cxn modelId="{9E447CF5-5862-4A51-8D03-DCE17EFD6BD4}" type="presParOf" srcId="{106A5430-29F3-4CBA-904A-DD4DE8396A30}" destId="{83E0D49C-EDCD-4317-9F0B-14937CAC9535}" srcOrd="2" destOrd="0" presId="urn:microsoft.com/office/officeart/2018/2/layout/IconVerticalSolidList"/>
    <dgm:cxn modelId="{1CFDC046-9E9D-4E78-A594-2376844825D9}" type="presParOf" srcId="{106A5430-29F3-4CBA-904A-DD4DE8396A30}" destId="{749EB032-B6BC-4017-A227-CD3ED4EC99D8}" srcOrd="3" destOrd="0" presId="urn:microsoft.com/office/officeart/2018/2/layout/IconVerticalSolidList"/>
    <dgm:cxn modelId="{EB0F50EE-C7B0-4D2C-BC5D-F21F51B38100}" type="presParOf" srcId="{5AD55882-C3EE-4ED1-A500-B84BD7B22273}" destId="{FF9786B6-9FD5-43D1-A53C-C3E94B106355}" srcOrd="1" destOrd="0" presId="urn:microsoft.com/office/officeart/2018/2/layout/IconVerticalSolidList"/>
    <dgm:cxn modelId="{DCBE0183-4D07-46A7-BAF7-A9B430B3D2D1}" type="presParOf" srcId="{5AD55882-C3EE-4ED1-A500-B84BD7B22273}" destId="{9555B87E-F359-4FC6-91C4-57FDED21587F}" srcOrd="2" destOrd="0" presId="urn:microsoft.com/office/officeart/2018/2/layout/IconVerticalSolidList"/>
    <dgm:cxn modelId="{AF66925C-6DEF-47B9-8578-43E9F0347B05}" type="presParOf" srcId="{9555B87E-F359-4FC6-91C4-57FDED21587F}" destId="{AA3C0217-DCCA-470D-9E47-58429640FFF6}" srcOrd="0" destOrd="0" presId="urn:microsoft.com/office/officeart/2018/2/layout/IconVerticalSolidList"/>
    <dgm:cxn modelId="{382787BC-B526-459A-B115-781ED154BD8C}" type="presParOf" srcId="{9555B87E-F359-4FC6-91C4-57FDED21587F}" destId="{CF379A5B-4AF0-40A4-BBDB-36DE9147947D}" srcOrd="1" destOrd="0" presId="urn:microsoft.com/office/officeart/2018/2/layout/IconVerticalSolidList"/>
    <dgm:cxn modelId="{F273418B-B01A-46C3-8C93-91740357DF9A}" type="presParOf" srcId="{9555B87E-F359-4FC6-91C4-57FDED21587F}" destId="{A906EA81-F06C-4E7E-98EC-42301D149D74}" srcOrd="2" destOrd="0" presId="urn:microsoft.com/office/officeart/2018/2/layout/IconVerticalSolidList"/>
    <dgm:cxn modelId="{D420B560-581A-4C53-AA71-24F6F0E25B70}" type="presParOf" srcId="{9555B87E-F359-4FC6-91C4-57FDED21587F}" destId="{A1B044D7-BD42-4E86-A679-3893A0FFF9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E0CFE-95F7-427A-A75D-8B6CCDA31BFD}">
      <dsp:nvSpPr>
        <dsp:cNvPr id="0" name=""/>
        <dsp:cNvSpPr/>
      </dsp:nvSpPr>
      <dsp:spPr>
        <a:xfrm>
          <a:off x="0" y="593369"/>
          <a:ext cx="8770571" cy="10954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B58A9-F33D-4DB6-9FB4-3B6945F96F5A}">
      <dsp:nvSpPr>
        <dsp:cNvPr id="0" name=""/>
        <dsp:cNvSpPr/>
      </dsp:nvSpPr>
      <dsp:spPr>
        <a:xfrm>
          <a:off x="331373" y="839845"/>
          <a:ext cx="602498" cy="6024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EB032-B6BC-4017-A227-CD3ED4EC99D8}">
      <dsp:nvSpPr>
        <dsp:cNvPr id="0" name=""/>
        <dsp:cNvSpPr/>
      </dsp:nvSpPr>
      <dsp:spPr>
        <a:xfrm>
          <a:off x="1265246" y="593369"/>
          <a:ext cx="7505324" cy="1095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35" tIns="115935" rIns="115935" bIns="1159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I. Le travail préalable, la préparation</a:t>
          </a:r>
          <a:endParaRPr lang="en-US" sz="2500" kern="1200"/>
        </a:p>
      </dsp:txBody>
      <dsp:txXfrm>
        <a:off x="1265246" y="593369"/>
        <a:ext cx="7505324" cy="1095451"/>
      </dsp:txXfrm>
    </dsp:sp>
    <dsp:sp modelId="{AA3C0217-DCCA-470D-9E47-58429640FFF6}">
      <dsp:nvSpPr>
        <dsp:cNvPr id="0" name=""/>
        <dsp:cNvSpPr/>
      </dsp:nvSpPr>
      <dsp:spPr>
        <a:xfrm>
          <a:off x="0" y="1962683"/>
          <a:ext cx="8770571" cy="10954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79A5B-4AF0-40A4-BBDB-36DE9147947D}">
      <dsp:nvSpPr>
        <dsp:cNvPr id="0" name=""/>
        <dsp:cNvSpPr/>
      </dsp:nvSpPr>
      <dsp:spPr>
        <a:xfrm>
          <a:off x="331373" y="2209159"/>
          <a:ext cx="602498" cy="6024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044D7-BD42-4E86-A679-3893A0FFF9EB}">
      <dsp:nvSpPr>
        <dsp:cNvPr id="0" name=""/>
        <dsp:cNvSpPr/>
      </dsp:nvSpPr>
      <dsp:spPr>
        <a:xfrm>
          <a:off x="1265246" y="1962683"/>
          <a:ext cx="7505324" cy="1095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35" tIns="115935" rIns="115935" bIns="1159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II. Réalisation de l’attaque</a:t>
          </a:r>
          <a:endParaRPr lang="en-US" sz="2500" kern="1200"/>
        </a:p>
      </dsp:txBody>
      <dsp:txXfrm>
        <a:off x="1265246" y="1962683"/>
        <a:ext cx="7505324" cy="10954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1A72BBC-11DD-BAA9-59C7-F5B3EFEC5C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Bur'hglyo('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E21BAE-0F56-1A2A-BAEA-0B2D647047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2998C-6C1B-460E-B594-C27EF7BE17C1}" type="datetimeFigureOut">
              <a:rPr lang="fr-FR" smtClean="0"/>
              <a:t>02/01/2024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14D6A5-B473-94D2-22AC-FD50CB230D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38BB0A-D72D-C51C-7217-4588EE33B0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37710-3BB8-4E7B-BDF9-CD1019252B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46315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Bur'hglyo('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0E215-0FE9-4D5F-9B56-F0EB8A3FA308}" type="datetimeFigureOut">
              <a:rPr lang="fr-FR" smtClean="0"/>
              <a:t>02/01/2024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53D5E-B873-47CD-ABA8-6B167CC246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51763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3AA1D3E6-A31B-4724-B27F-457A95279A7F}" type="datetime1">
              <a:rPr lang="en-US" smtClean="0"/>
              <a:t>1/2/2024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93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389B8-A204-44E2-98CA-F0565DA1380E}" type="datetime1">
              <a:rPr lang="en-US" smtClean="0"/>
              <a:t>1/2/2024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0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0ADBC745-07C7-44F6-86F0-E4C0DFD971F1}" type="datetime1">
              <a:rPr lang="en-US" smtClean="0"/>
              <a:t>1/2/2024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F347-9244-4339-9A17-116F5826C4DB}" type="datetime1">
              <a:rPr lang="en-US" smtClean="0"/>
              <a:t>1/2/2024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1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9511-DCCF-4BC0-AB18-2EC77D2C9921}" type="datetime1">
              <a:rPr lang="en-US" smtClean="0"/>
              <a:t>1/2/2024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636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FB10A-BC67-4429-9202-4C3BFD97D7B6}" type="datetime1">
              <a:rPr lang="en-US" smtClean="0"/>
              <a:t>1/2/2024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9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D206-3FEC-4DA1-88F2-049C18427E72}" type="datetime1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9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7DA6E7AA-90DC-48DC-97BC-18E145F8AE87}" type="datetime1">
              <a:rPr lang="en-US" smtClean="0"/>
              <a:t>1/2/2024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1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454D737F-9625-43B7-9B80-A09C6FAF8B7A}" type="datetime1">
              <a:rPr lang="en-US" smtClean="0"/>
              <a:t>1/2/2024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7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40CE-4F24-491B-8606-B6882D6EBA4B}" type="datetime1">
              <a:rPr lang="en-US" smtClean="0"/>
              <a:t>1/2/2024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C2C39B4-5C6F-40AB-81EB-1903CB5E30A7}" type="datetime1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80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50801366-5F42-4A6A-A133-04710B20E394}" type="datetime1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23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hd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A6CB8F-B7B1-4F3A-B9EE-A4A3F2B4C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4200"/>
              <a:t>La méthodologie d’une attaque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11F133-704D-8C71-DB14-79F1D088E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524024" cy="1576188"/>
          </a:xfrm>
        </p:spPr>
        <p:txBody>
          <a:bodyPr anchor="t">
            <a:normAutofit/>
          </a:bodyPr>
          <a:lstStyle/>
          <a:p>
            <a:endParaRPr lang="fr-F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Une image contenant Caractère coloré, violet, violette, art&#10;&#10;Description générée automatiquement">
            <a:extLst>
              <a:ext uri="{FF2B5EF4-FFF2-40B4-BE49-F238E27FC236}">
                <a16:creationId xmlns:a16="http://schemas.microsoft.com/office/drawing/2014/main" id="{A08D7B06-321D-284F-817A-4EB47D039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79" r="25098"/>
          <a:stretch/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6CD08F1D-236D-153F-E385-C70D6647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6887" y="6269102"/>
            <a:ext cx="5588349" cy="457200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F44F638-944E-B378-96C8-18DE0889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FF4ED99-5194-AB2B-3A3C-71E505176F6D}"/>
              </a:ext>
            </a:extLst>
          </p:cNvPr>
          <p:cNvSpPr txBox="1"/>
          <p:nvPr/>
        </p:nvSpPr>
        <p:spPr>
          <a:xfrm>
            <a:off x="0" y="131698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BOUVIER Robin, MBAYE Fatou, THIEBAUD-GIRARD Paul-Victory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05D0968-80A5-B31B-1C16-65728DAFE95E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37317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AAB927-38BB-6A03-362A-F47D5AC9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Définitions: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D0B27A-AAF0-AA7E-9C0A-5ACC11B5A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420435"/>
            <a:ext cx="8770571" cy="3299229"/>
          </a:xfrm>
        </p:spPr>
        <p:txBody>
          <a:bodyPr>
            <a:normAutofit/>
          </a:bodyPr>
          <a:lstStyle/>
          <a:p>
            <a:r>
              <a:rPr lang="fr-FR" sz="2000"/>
              <a:t>- Méthodologie: ensemble de techniques, d’actions </a:t>
            </a:r>
          </a:p>
          <a:p>
            <a:endParaRPr lang="fr-FR" sz="2000"/>
          </a:p>
          <a:p>
            <a:endParaRPr lang="fr-FR" sz="2000"/>
          </a:p>
          <a:p>
            <a:r>
              <a:rPr lang="fr-FR" sz="2000"/>
              <a:t>- Attaque: action malveillante, atteinte sur la sécurité d’un bien</a:t>
            </a:r>
          </a:p>
          <a:p>
            <a:endParaRPr lang="fr-FR" sz="200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F7E003-60EA-F2C7-EB13-E5EF829A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088BC9-A75F-E668-E48E-FD5B07D1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2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28D26F6-F800-58F1-34B1-C1FA16525FF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BOUVIER Robin, MBAYE Fatou, THIEBAUD-GIRARD Paul-Victory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D1556EC-2649-8F8E-C5BF-C174337C073F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8758409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54AB742-44A6-4CDD-B54A-818846AF8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554E5A1-A886-498E-BB7B-D46D96956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410" y="0"/>
            <a:ext cx="3997527" cy="2646947"/>
          </a:xfrm>
          <a:custGeom>
            <a:avLst/>
            <a:gdLst>
              <a:gd name="connsiteX0" fmla="*/ 294151 w 4013331"/>
              <a:gd name="connsiteY0" fmla="*/ 0 h 2742133"/>
              <a:gd name="connsiteX1" fmla="*/ 3844057 w 4013331"/>
              <a:gd name="connsiteY1" fmla="*/ 0 h 2742133"/>
              <a:gd name="connsiteX2" fmla="*/ 3892490 w 4013331"/>
              <a:gd name="connsiteY2" fmla="*/ 131440 h 2742133"/>
              <a:gd name="connsiteX3" fmla="*/ 4013331 w 4013331"/>
              <a:gd name="connsiteY3" fmla="*/ 941251 h 2742133"/>
              <a:gd name="connsiteX4" fmla="*/ 3804827 w 4013331"/>
              <a:gd name="connsiteY4" fmla="*/ 1540292 h 2742133"/>
              <a:gd name="connsiteX5" fmla="*/ 3187498 w 4013331"/>
              <a:gd name="connsiteY5" fmla="*/ 2098087 h 2742133"/>
              <a:gd name="connsiteX6" fmla="*/ 3051769 w 4013331"/>
              <a:gd name="connsiteY6" fmla="*/ 2204787 h 2742133"/>
              <a:gd name="connsiteX7" fmla="*/ 1936476 w 4013331"/>
              <a:gd name="connsiteY7" fmla="*/ 2742133 h 2742133"/>
              <a:gd name="connsiteX8" fmla="*/ 467303 w 4013331"/>
              <a:gd name="connsiteY8" fmla="*/ 1868695 h 2742133"/>
              <a:gd name="connsiteX9" fmla="*/ 310732 w 4013331"/>
              <a:gd name="connsiteY9" fmla="*/ 1645244 h 2742133"/>
              <a:gd name="connsiteX10" fmla="*/ 0 w 4013331"/>
              <a:gd name="connsiteY10" fmla="*/ 941251 h 2742133"/>
              <a:gd name="connsiteX11" fmla="*/ 187749 w 4013331"/>
              <a:gd name="connsiteY11" fmla="*/ 183076 h 2742133"/>
              <a:gd name="connsiteX12" fmla="*/ 288888 w 4013331"/>
              <a:gd name="connsiteY12" fmla="*/ 7329 h 274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13331" h="2742133">
                <a:moveTo>
                  <a:pt x="294151" y="0"/>
                </a:moveTo>
                <a:lnTo>
                  <a:pt x="3844057" y="0"/>
                </a:lnTo>
                <a:lnTo>
                  <a:pt x="3892490" y="131440"/>
                </a:lnTo>
                <a:cubicBezTo>
                  <a:pt x="3971777" y="378867"/>
                  <a:pt x="4013331" y="652783"/>
                  <a:pt x="4013331" y="941251"/>
                </a:cubicBezTo>
                <a:cubicBezTo>
                  <a:pt x="4013331" y="1171430"/>
                  <a:pt x="3948997" y="1356167"/>
                  <a:pt x="3804827" y="1540292"/>
                </a:cubicBezTo>
                <a:cubicBezTo>
                  <a:pt x="3654026" y="1732895"/>
                  <a:pt x="3427436" y="1910292"/>
                  <a:pt x="3187498" y="2098087"/>
                </a:cubicBezTo>
                <a:cubicBezTo>
                  <a:pt x="3143231" y="2132693"/>
                  <a:pt x="3097499" y="2168522"/>
                  <a:pt x="3051769" y="2204787"/>
                </a:cubicBezTo>
                <a:cubicBezTo>
                  <a:pt x="2642425" y="2529345"/>
                  <a:pt x="2343664" y="2742133"/>
                  <a:pt x="1936476" y="2742133"/>
                </a:cubicBezTo>
                <a:cubicBezTo>
                  <a:pt x="1316045" y="2742133"/>
                  <a:pt x="876647" y="2480932"/>
                  <a:pt x="467303" y="1868695"/>
                </a:cubicBezTo>
                <a:cubicBezTo>
                  <a:pt x="413736" y="1788559"/>
                  <a:pt x="361372" y="1715679"/>
                  <a:pt x="310732" y="1645244"/>
                </a:cubicBezTo>
                <a:cubicBezTo>
                  <a:pt x="100850" y="1353195"/>
                  <a:pt x="0" y="1201315"/>
                  <a:pt x="0" y="941251"/>
                </a:cubicBezTo>
                <a:cubicBezTo>
                  <a:pt x="0" y="683021"/>
                  <a:pt x="63214" y="427935"/>
                  <a:pt x="187749" y="183076"/>
                </a:cubicBezTo>
                <a:cubicBezTo>
                  <a:pt x="218215" y="123194"/>
                  <a:pt x="251953" y="64578"/>
                  <a:pt x="288888" y="7329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87AD90-AAFE-4334-90DA-2CE513B8A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875" y="0"/>
            <a:ext cx="4244813" cy="2866417"/>
          </a:xfrm>
          <a:custGeom>
            <a:avLst/>
            <a:gdLst>
              <a:gd name="connsiteX0" fmla="*/ 237339 w 4130517"/>
              <a:gd name="connsiteY0" fmla="*/ 0 h 2806419"/>
              <a:gd name="connsiteX1" fmla="*/ 3997489 w 4130517"/>
              <a:gd name="connsiteY1" fmla="*/ 0 h 2806419"/>
              <a:gd name="connsiteX2" fmla="*/ 4006148 w 4130517"/>
              <a:gd name="connsiteY2" fmla="*/ 24333 h 2806419"/>
              <a:gd name="connsiteX3" fmla="*/ 4130517 w 4130517"/>
              <a:gd name="connsiteY3" fmla="*/ 887307 h 2806419"/>
              <a:gd name="connsiteX4" fmla="*/ 3915925 w 4130517"/>
              <a:gd name="connsiteY4" fmla="*/ 1525677 h 2806419"/>
              <a:gd name="connsiteX5" fmla="*/ 3280571 w 4130517"/>
              <a:gd name="connsiteY5" fmla="*/ 2120090 h 2806419"/>
              <a:gd name="connsiteX6" fmla="*/ 3140878 w 4130517"/>
              <a:gd name="connsiteY6" fmla="*/ 2233796 h 2806419"/>
              <a:gd name="connsiteX7" fmla="*/ 1993019 w 4130517"/>
              <a:gd name="connsiteY7" fmla="*/ 2806419 h 2806419"/>
              <a:gd name="connsiteX8" fmla="*/ 480948 w 4130517"/>
              <a:gd name="connsiteY8" fmla="*/ 1875638 h 2806419"/>
              <a:gd name="connsiteX9" fmla="*/ 319805 w 4130517"/>
              <a:gd name="connsiteY9" fmla="*/ 1637519 h 2806419"/>
              <a:gd name="connsiteX10" fmla="*/ 0 w 4130517"/>
              <a:gd name="connsiteY10" fmla="*/ 887307 h 2806419"/>
              <a:gd name="connsiteX11" fmla="*/ 193231 w 4130517"/>
              <a:gd name="connsiteY11" fmla="*/ 79360 h 280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30517" h="2806419">
                <a:moveTo>
                  <a:pt x="237339" y="0"/>
                </a:moveTo>
                <a:lnTo>
                  <a:pt x="3997489" y="0"/>
                </a:lnTo>
                <a:lnTo>
                  <a:pt x="4006148" y="24333"/>
                </a:lnTo>
                <a:cubicBezTo>
                  <a:pt x="4087750" y="288004"/>
                  <a:pt x="4130517" y="579903"/>
                  <a:pt x="4130517" y="887307"/>
                </a:cubicBezTo>
                <a:cubicBezTo>
                  <a:pt x="4130517" y="1132599"/>
                  <a:pt x="4064304" y="1329464"/>
                  <a:pt x="3915925" y="1525677"/>
                </a:cubicBezTo>
                <a:cubicBezTo>
                  <a:pt x="3760721" y="1730924"/>
                  <a:pt x="3527514" y="1919967"/>
                  <a:pt x="3280571" y="2120090"/>
                </a:cubicBezTo>
                <a:cubicBezTo>
                  <a:pt x="3235011" y="2156968"/>
                  <a:pt x="3187944" y="2195151"/>
                  <a:pt x="3140878" y="2233796"/>
                </a:cubicBezTo>
                <a:cubicBezTo>
                  <a:pt x="2719582" y="2579662"/>
                  <a:pt x="2412097" y="2806419"/>
                  <a:pt x="1993019" y="2806419"/>
                </a:cubicBezTo>
                <a:cubicBezTo>
                  <a:pt x="1354472" y="2806419"/>
                  <a:pt x="902244" y="2528070"/>
                  <a:pt x="480948" y="1875638"/>
                </a:cubicBezTo>
                <a:cubicBezTo>
                  <a:pt x="425816" y="1790244"/>
                  <a:pt x="371924" y="1712578"/>
                  <a:pt x="319805" y="1637519"/>
                </a:cubicBezTo>
                <a:cubicBezTo>
                  <a:pt x="103795" y="1326296"/>
                  <a:pt x="0" y="1164446"/>
                  <a:pt x="0" y="887307"/>
                </a:cubicBezTo>
                <a:cubicBezTo>
                  <a:pt x="0" y="612125"/>
                  <a:pt x="65060" y="340293"/>
                  <a:pt x="193231" y="7936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418DD6F-4B37-4D9C-8371-5E5B013F2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336" y="0"/>
            <a:ext cx="4584032" cy="3020235"/>
          </a:xfrm>
          <a:custGeom>
            <a:avLst/>
            <a:gdLst>
              <a:gd name="connsiteX0" fmla="*/ 208215 w 4389519"/>
              <a:gd name="connsiteY0" fmla="*/ 0 h 2916937"/>
              <a:gd name="connsiteX1" fmla="*/ 4284014 w 4389519"/>
              <a:gd name="connsiteY1" fmla="*/ 0 h 2916937"/>
              <a:gd name="connsiteX2" fmla="*/ 4335794 w 4389519"/>
              <a:gd name="connsiteY2" fmla="*/ 207911 h 2916937"/>
              <a:gd name="connsiteX3" fmla="*/ 4376420 w 4389519"/>
              <a:gd name="connsiteY3" fmla="*/ 1078865 h 2916937"/>
              <a:gd name="connsiteX4" fmla="*/ 4090147 w 4389519"/>
              <a:gd name="connsiteY4" fmla="*/ 1734728 h 2916937"/>
              <a:gd name="connsiteX5" fmla="*/ 3362552 w 4389519"/>
              <a:gd name="connsiteY5" fmla="*/ 2305097 h 2916937"/>
              <a:gd name="connsiteX6" fmla="*/ 3204152 w 4389519"/>
              <a:gd name="connsiteY6" fmla="*/ 2412521 h 2916937"/>
              <a:gd name="connsiteX7" fmla="*/ 1936072 w 4389519"/>
              <a:gd name="connsiteY7" fmla="*/ 2912360 h 2916937"/>
              <a:gd name="connsiteX8" fmla="*/ 421690 w 4389519"/>
              <a:gd name="connsiteY8" fmla="*/ 1787063 h 2916937"/>
              <a:gd name="connsiteX9" fmla="*/ 273167 w 4389519"/>
              <a:gd name="connsiteY9" fmla="*/ 1520080 h 2916937"/>
              <a:gd name="connsiteX10" fmla="*/ 4118 w 4389519"/>
              <a:gd name="connsiteY10" fmla="*/ 696338 h 2916937"/>
              <a:gd name="connsiteX11" fmla="*/ 175984 w 4389519"/>
              <a:gd name="connsiteY11" fmla="*/ 60381 h 291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89519" h="2916937">
                <a:moveTo>
                  <a:pt x="208215" y="0"/>
                </a:moveTo>
                <a:lnTo>
                  <a:pt x="4284014" y="0"/>
                </a:lnTo>
                <a:lnTo>
                  <a:pt x="4335794" y="207911"/>
                </a:lnTo>
                <a:cubicBezTo>
                  <a:pt x="4388748" y="479686"/>
                  <a:pt x="4403109" y="773803"/>
                  <a:pt x="4376420" y="1078865"/>
                </a:cubicBezTo>
                <a:cubicBezTo>
                  <a:pt x="4353703" y="1338514"/>
                  <a:pt x="4265383" y="1540772"/>
                  <a:pt x="4090147" y="1734728"/>
                </a:cubicBezTo>
                <a:cubicBezTo>
                  <a:pt x="3906850" y="1937616"/>
                  <a:pt x="3642485" y="2116128"/>
                  <a:pt x="3362552" y="2305097"/>
                </a:cubicBezTo>
                <a:cubicBezTo>
                  <a:pt x="3310910" y="2339914"/>
                  <a:pt x="3257553" y="2375972"/>
                  <a:pt x="3204152" y="2412521"/>
                </a:cubicBezTo>
                <a:cubicBezTo>
                  <a:pt x="2726165" y="2739616"/>
                  <a:pt x="2379682" y="2951171"/>
                  <a:pt x="1936072" y="2912360"/>
                </a:cubicBezTo>
                <a:cubicBezTo>
                  <a:pt x="1260148" y="2853224"/>
                  <a:pt x="807225" y="2516700"/>
                  <a:pt x="421690" y="1787063"/>
                </a:cubicBezTo>
                <a:cubicBezTo>
                  <a:pt x="371240" y="1691563"/>
                  <a:pt x="321385" y="1604361"/>
                  <a:pt x="273167" y="1520080"/>
                </a:cubicBezTo>
                <a:cubicBezTo>
                  <a:pt x="73334" y="1170636"/>
                  <a:pt x="-21548" y="989700"/>
                  <a:pt x="4118" y="696338"/>
                </a:cubicBezTo>
                <a:cubicBezTo>
                  <a:pt x="23232" y="477870"/>
                  <a:pt x="80908" y="264786"/>
                  <a:pt x="175984" y="6038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9CAA4AF-9439-4251-91D8-B10094717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2156" y="3297832"/>
            <a:ext cx="5959692" cy="3560169"/>
          </a:xfrm>
          <a:custGeom>
            <a:avLst/>
            <a:gdLst>
              <a:gd name="connsiteX0" fmla="*/ 3008109 w 5959692"/>
              <a:gd name="connsiteY0" fmla="*/ 42 h 3560169"/>
              <a:gd name="connsiteX1" fmla="*/ 4702247 w 5959692"/>
              <a:gd name="connsiteY1" fmla="*/ 626282 h 3560169"/>
              <a:gd name="connsiteX2" fmla="*/ 5069411 w 5959692"/>
              <a:gd name="connsiteY2" fmla="*/ 865826 h 3560169"/>
              <a:gd name="connsiteX3" fmla="*/ 5895906 w 5959692"/>
              <a:gd name="connsiteY3" fmla="*/ 1594994 h 3560169"/>
              <a:gd name="connsiteX4" fmla="*/ 5959691 w 5959692"/>
              <a:gd name="connsiteY4" fmla="*/ 1728783 h 3560169"/>
              <a:gd name="connsiteX5" fmla="*/ 5959692 w 5959692"/>
              <a:gd name="connsiteY5" fmla="*/ 3560169 h 3560169"/>
              <a:gd name="connsiteX6" fmla="*/ 635 w 5959692"/>
              <a:gd name="connsiteY6" fmla="*/ 3560169 h 3560169"/>
              <a:gd name="connsiteX7" fmla="*/ 0 w 5959692"/>
              <a:gd name="connsiteY7" fmla="*/ 3534810 h 3560169"/>
              <a:gd name="connsiteX8" fmla="*/ 56896 w 5959692"/>
              <a:gd name="connsiteY8" fmla="*/ 3142342 h 3560169"/>
              <a:gd name="connsiteX9" fmla="*/ 605568 w 5959692"/>
              <a:gd name="connsiteY9" fmla="*/ 1932853 h 3560169"/>
              <a:gd name="connsiteX10" fmla="*/ 736162 w 5959692"/>
              <a:gd name="connsiteY10" fmla="*/ 1690788 h 3560169"/>
              <a:gd name="connsiteX11" fmla="*/ 2021319 w 5959692"/>
              <a:gd name="connsiteY11" fmla="*/ 209863 h 3560169"/>
              <a:gd name="connsiteX12" fmla="*/ 3008109 w 5959692"/>
              <a:gd name="connsiteY12" fmla="*/ 42 h 356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59692" h="3560169">
                <a:moveTo>
                  <a:pt x="3008109" y="42"/>
                </a:moveTo>
                <a:cubicBezTo>
                  <a:pt x="3549058" y="3372"/>
                  <a:pt x="4091345" y="208628"/>
                  <a:pt x="4702247" y="626282"/>
                </a:cubicBezTo>
                <a:cubicBezTo>
                  <a:pt x="4830168" y="713755"/>
                  <a:pt x="4951806" y="791097"/>
                  <a:pt x="5069411" y="865826"/>
                </a:cubicBezTo>
                <a:cubicBezTo>
                  <a:pt x="5495976" y="1136988"/>
                  <a:pt x="5734167" y="1298128"/>
                  <a:pt x="5895906" y="1594994"/>
                </a:cubicBezTo>
                <a:lnTo>
                  <a:pt x="5959691" y="1728783"/>
                </a:lnTo>
                <a:lnTo>
                  <a:pt x="5959692" y="3560169"/>
                </a:lnTo>
                <a:lnTo>
                  <a:pt x="635" y="3560169"/>
                </a:lnTo>
                <a:lnTo>
                  <a:pt x="0" y="3534810"/>
                </a:lnTo>
                <a:cubicBezTo>
                  <a:pt x="2402" y="3407978"/>
                  <a:pt x="21463" y="3278501"/>
                  <a:pt x="56896" y="3142342"/>
                </a:cubicBezTo>
                <a:cubicBezTo>
                  <a:pt x="155720" y="2762537"/>
                  <a:pt x="374193" y="2359525"/>
                  <a:pt x="605568" y="1932853"/>
                </a:cubicBezTo>
                <a:cubicBezTo>
                  <a:pt x="648282" y="1854194"/>
                  <a:pt x="692359" y="1772817"/>
                  <a:pt x="736162" y="1690788"/>
                </a:cubicBezTo>
                <a:cubicBezTo>
                  <a:pt x="1128289" y="956620"/>
                  <a:pt x="1429537" y="456850"/>
                  <a:pt x="2021319" y="209863"/>
                </a:cubicBezTo>
                <a:cubicBezTo>
                  <a:pt x="2359453" y="68739"/>
                  <a:pt x="2683541" y="-1956"/>
                  <a:pt x="3008109" y="4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D2A5C08-5689-4BEE-9A95-2C42FDA8A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3499" y="319598"/>
            <a:ext cx="3110997" cy="3301428"/>
          </a:xfrm>
          <a:custGeom>
            <a:avLst/>
            <a:gdLst>
              <a:gd name="connsiteX0" fmla="*/ 1431069 w 3110997"/>
              <a:gd name="connsiteY0" fmla="*/ 1514 h 3301428"/>
              <a:gd name="connsiteX1" fmla="*/ 1946520 w 3110997"/>
              <a:gd name="connsiteY1" fmla="*/ 42088 h 3301428"/>
              <a:gd name="connsiteX2" fmla="*/ 2402721 w 3110997"/>
              <a:gd name="connsiteY2" fmla="*/ 303594 h 3301428"/>
              <a:gd name="connsiteX3" fmla="*/ 2762423 w 3110997"/>
              <a:gd name="connsiteY3" fmla="*/ 889436 h 3301428"/>
              <a:gd name="connsiteX4" fmla="*/ 2828518 w 3110997"/>
              <a:gd name="connsiteY4" fmla="*/ 1015773 h 3301428"/>
              <a:gd name="connsiteX5" fmla="*/ 3094962 w 3110997"/>
              <a:gd name="connsiteY5" fmla="*/ 2001284 h 3301428"/>
              <a:gd name="connsiteX6" fmla="*/ 2157067 w 3110997"/>
              <a:gd name="connsiteY6" fmla="*/ 3054444 h 3301428"/>
              <a:gd name="connsiteX7" fmla="*/ 1950853 w 3110997"/>
              <a:gd name="connsiteY7" fmla="*/ 3146478 h 3301428"/>
              <a:gd name="connsiteX8" fmla="*/ 1329246 w 3110997"/>
              <a:gd name="connsiteY8" fmla="*/ 3288753 h 3301428"/>
              <a:gd name="connsiteX9" fmla="*/ 740145 w 3110997"/>
              <a:gd name="connsiteY9" fmla="*/ 3019378 h 3301428"/>
              <a:gd name="connsiteX10" fmla="*/ 288773 w 3110997"/>
              <a:gd name="connsiteY10" fmla="*/ 2499557 h 3301428"/>
              <a:gd name="connsiteX11" fmla="*/ 35659 w 3110997"/>
              <a:gd name="connsiteY11" fmla="*/ 1823964 h 3301428"/>
              <a:gd name="connsiteX12" fmla="*/ 31208 w 3110997"/>
              <a:gd name="connsiteY12" fmla="*/ 1116817 h 3301428"/>
              <a:gd name="connsiteX13" fmla="*/ 266830 w 3110997"/>
              <a:gd name="connsiteY13" fmla="*/ 556451 h 3301428"/>
              <a:gd name="connsiteX14" fmla="*/ 683944 w 3110997"/>
              <a:gd name="connsiteY14" fmla="*/ 194390 h 3301428"/>
              <a:gd name="connsiteX15" fmla="*/ 1431069 w 3110997"/>
              <a:gd name="connsiteY15" fmla="*/ 1514 h 330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10997" h="3301428">
                <a:moveTo>
                  <a:pt x="1431069" y="1514"/>
                </a:moveTo>
                <a:cubicBezTo>
                  <a:pt x="1596908" y="-4789"/>
                  <a:pt x="1770176" y="8561"/>
                  <a:pt x="1946520" y="42088"/>
                </a:cubicBezTo>
                <a:cubicBezTo>
                  <a:pt x="2134136" y="77759"/>
                  <a:pt x="2274818" y="158432"/>
                  <a:pt x="2402721" y="303594"/>
                </a:cubicBezTo>
                <a:cubicBezTo>
                  <a:pt x="2536515" y="455435"/>
                  <a:pt x="2646258" y="666231"/>
                  <a:pt x="2762423" y="889436"/>
                </a:cubicBezTo>
                <a:cubicBezTo>
                  <a:pt x="2783822" y="930610"/>
                  <a:pt x="2805992" y="973158"/>
                  <a:pt x="2828518" y="1015773"/>
                </a:cubicBezTo>
                <a:cubicBezTo>
                  <a:pt x="3030101" y="1397216"/>
                  <a:pt x="3157590" y="1671880"/>
                  <a:pt x="3094962" y="2001284"/>
                </a:cubicBezTo>
                <a:cubicBezTo>
                  <a:pt x="2999536" y="2503193"/>
                  <a:pt x="2719052" y="2818175"/>
                  <a:pt x="2157067" y="3054444"/>
                </a:cubicBezTo>
                <a:cubicBezTo>
                  <a:pt x="2083511" y="3085361"/>
                  <a:pt x="2016053" y="3116427"/>
                  <a:pt x="1950853" y="3146478"/>
                </a:cubicBezTo>
                <a:cubicBezTo>
                  <a:pt x="1680527" y="3271008"/>
                  <a:pt x="1541221" y="3329055"/>
                  <a:pt x="1329246" y="3288753"/>
                </a:cubicBezTo>
                <a:cubicBezTo>
                  <a:pt x="1118766" y="3248736"/>
                  <a:pt x="920572" y="3158068"/>
                  <a:pt x="740145" y="3019378"/>
                </a:cubicBezTo>
                <a:cubicBezTo>
                  <a:pt x="563651" y="2883673"/>
                  <a:pt x="411737" y="2708752"/>
                  <a:pt x="288773" y="2499557"/>
                </a:cubicBezTo>
                <a:cubicBezTo>
                  <a:pt x="167863" y="2293930"/>
                  <a:pt x="80312" y="2060356"/>
                  <a:pt x="35659" y="1823964"/>
                </a:cubicBezTo>
                <a:cubicBezTo>
                  <a:pt x="-10360" y="1581177"/>
                  <a:pt x="-11829" y="1343178"/>
                  <a:pt x="31208" y="1116817"/>
                </a:cubicBezTo>
                <a:cubicBezTo>
                  <a:pt x="71795" y="903345"/>
                  <a:pt x="151102" y="714850"/>
                  <a:pt x="266830" y="556451"/>
                </a:cubicBezTo>
                <a:cubicBezTo>
                  <a:pt x="375349" y="408016"/>
                  <a:pt x="515707" y="286208"/>
                  <a:pt x="683944" y="194390"/>
                </a:cubicBezTo>
                <a:cubicBezTo>
                  <a:pt x="898912" y="77121"/>
                  <a:pt x="1154672" y="12021"/>
                  <a:pt x="1431069" y="1514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02A6F17-9810-4DEF-B424-3A711DE7F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5604" y="443150"/>
            <a:ext cx="2805016" cy="3049345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EFC67A7-3EF2-4A67-973D-BC6780225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3466" y="623454"/>
            <a:ext cx="2567901" cy="2687367"/>
          </a:xfrm>
          <a:custGeom>
            <a:avLst/>
            <a:gdLst>
              <a:gd name="connsiteX0" fmla="*/ 1177679 w 2567901"/>
              <a:gd name="connsiteY0" fmla="*/ 1063 h 2687367"/>
              <a:gd name="connsiteX1" fmla="*/ 1603094 w 2567901"/>
              <a:gd name="connsiteY1" fmla="*/ 35223 h 2687367"/>
              <a:gd name="connsiteX2" fmla="*/ 1980105 w 2567901"/>
              <a:gd name="connsiteY2" fmla="*/ 249099 h 2687367"/>
              <a:gd name="connsiteX3" fmla="*/ 2278200 w 2567901"/>
              <a:gd name="connsiteY3" fmla="*/ 726784 h 2687367"/>
              <a:gd name="connsiteX4" fmla="*/ 2333016 w 2567901"/>
              <a:gd name="connsiteY4" fmla="*/ 829771 h 2687367"/>
              <a:gd name="connsiteX5" fmla="*/ 2555036 w 2567901"/>
              <a:gd name="connsiteY5" fmla="*/ 1632596 h 2687367"/>
              <a:gd name="connsiteX6" fmla="*/ 1783436 w 2567901"/>
              <a:gd name="connsiteY6" fmla="*/ 2487849 h 2687367"/>
              <a:gd name="connsiteX7" fmla="*/ 1613480 w 2567901"/>
              <a:gd name="connsiteY7" fmla="*/ 2562316 h 2687367"/>
              <a:gd name="connsiteX8" fmla="*/ 1100869 w 2567901"/>
              <a:gd name="connsiteY8" fmla="*/ 2676769 h 2687367"/>
              <a:gd name="connsiteX9" fmla="*/ 614178 w 2567901"/>
              <a:gd name="connsiteY9" fmla="*/ 2456196 h 2687367"/>
              <a:gd name="connsiteX10" fmla="*/ 240586 w 2567901"/>
              <a:gd name="connsiteY10" fmla="*/ 2032054 h 2687367"/>
              <a:gd name="connsiteX11" fmla="*/ 30245 w 2567901"/>
              <a:gd name="connsiteY11" fmla="*/ 1481541 h 2687367"/>
              <a:gd name="connsiteX12" fmla="*/ 25021 w 2567901"/>
              <a:gd name="connsiteY12" fmla="*/ 905889 h 2687367"/>
              <a:gd name="connsiteX13" fmla="*/ 218217 w 2567901"/>
              <a:gd name="connsiteY13" fmla="*/ 450248 h 2687367"/>
              <a:gd name="connsiteX14" fmla="*/ 561607 w 2567901"/>
              <a:gd name="connsiteY14" fmla="*/ 156432 h 2687367"/>
              <a:gd name="connsiteX15" fmla="*/ 1177679 w 2567901"/>
              <a:gd name="connsiteY15" fmla="*/ 1063 h 268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7901" h="2687367">
                <a:moveTo>
                  <a:pt x="1177679" y="1063"/>
                </a:moveTo>
                <a:cubicBezTo>
                  <a:pt x="1314507" y="-3704"/>
                  <a:pt x="1457510" y="7543"/>
                  <a:pt x="1603094" y="35223"/>
                </a:cubicBezTo>
                <a:cubicBezTo>
                  <a:pt x="1757985" y="64671"/>
                  <a:pt x="1874247" y="130651"/>
                  <a:pt x="1980105" y="249099"/>
                </a:cubicBezTo>
                <a:cubicBezTo>
                  <a:pt x="2090840" y="372996"/>
                  <a:pt x="2181857" y="544832"/>
                  <a:pt x="2278200" y="726784"/>
                </a:cubicBezTo>
                <a:cubicBezTo>
                  <a:pt x="2295948" y="760348"/>
                  <a:pt x="2314335" y="795032"/>
                  <a:pt x="2333016" y="829771"/>
                </a:cubicBezTo>
                <a:cubicBezTo>
                  <a:pt x="2500190" y="1140721"/>
                  <a:pt x="2605991" y="1364587"/>
                  <a:pt x="2555036" y="1632596"/>
                </a:cubicBezTo>
                <a:cubicBezTo>
                  <a:pt x="2477395" y="2040959"/>
                  <a:pt x="2246644" y="2296751"/>
                  <a:pt x="1783436" y="2487849"/>
                </a:cubicBezTo>
                <a:cubicBezTo>
                  <a:pt x="1722809" y="2512855"/>
                  <a:pt x="1667214" y="2537996"/>
                  <a:pt x="1613480" y="2562316"/>
                </a:cubicBezTo>
                <a:cubicBezTo>
                  <a:pt x="1390692" y="2663095"/>
                  <a:pt x="1275870" y="2710042"/>
                  <a:pt x="1100869" y="2676769"/>
                </a:cubicBezTo>
                <a:cubicBezTo>
                  <a:pt x="927103" y="2643732"/>
                  <a:pt x="763363" y="2569490"/>
                  <a:pt x="614178" y="2456196"/>
                </a:cubicBezTo>
                <a:cubicBezTo>
                  <a:pt x="468245" y="2345340"/>
                  <a:pt x="342509" y="2202615"/>
                  <a:pt x="240586" y="2032054"/>
                </a:cubicBezTo>
                <a:cubicBezTo>
                  <a:pt x="140365" y="1864400"/>
                  <a:pt x="67610" y="1674071"/>
                  <a:pt x="30245" y="1481541"/>
                </a:cubicBezTo>
                <a:cubicBezTo>
                  <a:pt x="-8261" y="1283803"/>
                  <a:pt x="-9994" y="1090060"/>
                  <a:pt x="25021" y="905889"/>
                </a:cubicBezTo>
                <a:cubicBezTo>
                  <a:pt x="58043" y="732204"/>
                  <a:pt x="123071" y="578936"/>
                  <a:pt x="218217" y="450248"/>
                </a:cubicBezTo>
                <a:cubicBezTo>
                  <a:pt x="307436" y="329654"/>
                  <a:pt x="422987" y="230806"/>
                  <a:pt x="561607" y="156432"/>
                </a:cubicBezTo>
                <a:cubicBezTo>
                  <a:pt x="738731" y="61442"/>
                  <a:pt x="949631" y="9010"/>
                  <a:pt x="1177679" y="1063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EBC24C-6757-CB44-96BA-2434BED2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313" y="473917"/>
            <a:ext cx="4717178" cy="1209183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La </a:t>
            </a:r>
            <a:r>
              <a:rPr lang="en-US" err="1"/>
              <a:t>problématique</a:t>
            </a:r>
            <a:r>
              <a:rPr lang="en-US"/>
              <a:t>: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66ABC24-0209-4102-937A-A7DCB631F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7256" y="0"/>
            <a:ext cx="3404592" cy="2880968"/>
          </a:xfrm>
          <a:custGeom>
            <a:avLst/>
            <a:gdLst>
              <a:gd name="connsiteX0" fmla="*/ 30625 w 3404592"/>
              <a:gd name="connsiteY0" fmla="*/ 0 h 2880968"/>
              <a:gd name="connsiteX1" fmla="*/ 3404591 w 3404592"/>
              <a:gd name="connsiteY1" fmla="*/ 0 h 2880968"/>
              <a:gd name="connsiteX2" fmla="*/ 3404592 w 3404592"/>
              <a:gd name="connsiteY2" fmla="*/ 2363677 h 2880968"/>
              <a:gd name="connsiteX3" fmla="*/ 3368234 w 3404592"/>
              <a:gd name="connsiteY3" fmla="*/ 2400463 h 2880968"/>
              <a:gd name="connsiteX4" fmla="*/ 2673169 w 3404592"/>
              <a:gd name="connsiteY4" fmla="*/ 2691710 h 2880968"/>
              <a:gd name="connsiteX5" fmla="*/ 2383908 w 3404592"/>
              <a:gd name="connsiteY5" fmla="*/ 2766733 h 2880968"/>
              <a:gd name="connsiteX6" fmla="*/ 580011 w 3404592"/>
              <a:gd name="connsiteY6" fmla="*/ 2455996 h 2880968"/>
              <a:gd name="connsiteX7" fmla="*/ 103935 w 3404592"/>
              <a:gd name="connsiteY7" fmla="*/ 1224395 h 2880968"/>
              <a:gd name="connsiteX8" fmla="*/ 76737 w 3404592"/>
              <a:gd name="connsiteY8" fmla="*/ 1040246 h 2880968"/>
              <a:gd name="connsiteX9" fmla="*/ 6986 w 3404592"/>
              <a:gd name="connsiteY9" fmla="*/ 142569 h 288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4592" h="2880968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E0353AB-2B58-414E-9A96-9F171A07C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1772" y="0"/>
            <a:ext cx="3580076" cy="3029264"/>
          </a:xfrm>
          <a:custGeom>
            <a:avLst/>
            <a:gdLst>
              <a:gd name="connsiteX0" fmla="*/ 19381 w 3580076"/>
              <a:gd name="connsiteY0" fmla="*/ 0 h 3029264"/>
              <a:gd name="connsiteX1" fmla="*/ 3580076 w 3580076"/>
              <a:gd name="connsiteY1" fmla="*/ 0 h 3029264"/>
              <a:gd name="connsiteX2" fmla="*/ 3580076 w 3580076"/>
              <a:gd name="connsiteY2" fmla="*/ 2559343 h 3029264"/>
              <a:gd name="connsiteX3" fmla="*/ 3556258 w 3580076"/>
              <a:gd name="connsiteY3" fmla="*/ 2578706 h 3029264"/>
              <a:gd name="connsiteX4" fmla="*/ 2887450 w 3580076"/>
              <a:gd name="connsiteY4" fmla="*/ 2826324 h 3029264"/>
              <a:gd name="connsiteX5" fmla="*/ 2575407 w 3580076"/>
              <a:gd name="connsiteY5" fmla="*/ 2906908 h 3029264"/>
              <a:gd name="connsiteX6" fmla="*/ 628491 w 3580076"/>
              <a:gd name="connsiteY6" fmla="*/ 2569492 h 3029264"/>
              <a:gd name="connsiteX7" fmla="*/ 113276 w 3580076"/>
              <a:gd name="connsiteY7" fmla="*/ 1240251 h 3029264"/>
              <a:gd name="connsiteX8" fmla="*/ 83702 w 3580076"/>
              <a:gd name="connsiteY8" fmla="*/ 1041556 h 3029264"/>
              <a:gd name="connsiteX9" fmla="*/ 7347 w 3580076"/>
              <a:gd name="connsiteY9" fmla="*/ 73049 h 30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076" h="3029264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38988AC-174D-45F8-BC18-EC09F2AD9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97970" y="0"/>
            <a:ext cx="3293877" cy="2743212"/>
          </a:xfrm>
          <a:custGeom>
            <a:avLst/>
            <a:gdLst>
              <a:gd name="connsiteX0" fmla="*/ 37772 w 3293877"/>
              <a:gd name="connsiteY0" fmla="*/ 0 h 2743212"/>
              <a:gd name="connsiteX1" fmla="*/ 3293877 w 3293877"/>
              <a:gd name="connsiteY1" fmla="*/ 0 h 2743212"/>
              <a:gd name="connsiteX2" fmla="*/ 3293877 w 3293877"/>
              <a:gd name="connsiteY2" fmla="*/ 2133887 h 2743212"/>
              <a:gd name="connsiteX3" fmla="*/ 3222757 w 3293877"/>
              <a:gd name="connsiteY3" fmla="*/ 2223039 h 2743212"/>
              <a:gd name="connsiteX4" fmla="*/ 2503136 w 3293877"/>
              <a:gd name="connsiteY4" fmla="*/ 2565392 h 2743212"/>
              <a:gd name="connsiteX5" fmla="*/ 2232111 w 3293877"/>
              <a:gd name="connsiteY5" fmla="*/ 2635826 h 2743212"/>
              <a:gd name="connsiteX6" fmla="*/ 542319 w 3293877"/>
              <a:gd name="connsiteY6" fmla="*/ 2345567 h 2743212"/>
              <a:gd name="connsiteX7" fmla="*/ 96920 w 3293877"/>
              <a:gd name="connsiteY7" fmla="*/ 1191868 h 2743212"/>
              <a:gd name="connsiteX8" fmla="*/ 71529 w 3293877"/>
              <a:gd name="connsiteY8" fmla="*/ 1019346 h 2743212"/>
              <a:gd name="connsiteX9" fmla="*/ 6623 w 3293877"/>
              <a:gd name="connsiteY9" fmla="*/ 178315 h 2743212"/>
              <a:gd name="connsiteX10" fmla="*/ 34833 w 3293877"/>
              <a:gd name="connsiteY10" fmla="*/ 8680 h 274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3877" h="2743212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90EEB7C-9D4C-491A-A547-18E5793A2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493" y="3105611"/>
            <a:ext cx="6141507" cy="3752389"/>
          </a:xfrm>
          <a:custGeom>
            <a:avLst/>
            <a:gdLst>
              <a:gd name="connsiteX0" fmla="*/ 3215595 w 6141507"/>
              <a:gd name="connsiteY0" fmla="*/ 37 h 3752389"/>
              <a:gd name="connsiteX1" fmla="*/ 5025810 w 6141507"/>
              <a:gd name="connsiteY1" fmla="*/ 667544 h 3752389"/>
              <a:gd name="connsiteX2" fmla="*/ 5418068 w 6141507"/>
              <a:gd name="connsiteY2" fmla="*/ 923043 h 3752389"/>
              <a:gd name="connsiteX3" fmla="*/ 6130109 w 6141507"/>
              <a:gd name="connsiteY3" fmla="*/ 1458777 h 3752389"/>
              <a:gd name="connsiteX4" fmla="*/ 6141506 w 6141507"/>
              <a:gd name="connsiteY4" fmla="*/ 1473047 h 3752389"/>
              <a:gd name="connsiteX5" fmla="*/ 6141507 w 6141507"/>
              <a:gd name="connsiteY5" fmla="*/ 3752389 h 3752389"/>
              <a:gd name="connsiteX6" fmla="*/ 0 w 6141507"/>
              <a:gd name="connsiteY6" fmla="*/ 3752389 h 3752389"/>
              <a:gd name="connsiteX7" fmla="*/ 7127 w 6141507"/>
              <a:gd name="connsiteY7" fmla="*/ 3638865 h 3752389"/>
              <a:gd name="connsiteX8" fmla="*/ 59603 w 6141507"/>
              <a:gd name="connsiteY8" fmla="*/ 3356358 h 3752389"/>
              <a:gd name="connsiteX9" fmla="*/ 646726 w 6141507"/>
              <a:gd name="connsiteY9" fmla="*/ 2064848 h 3752389"/>
              <a:gd name="connsiteX10" fmla="*/ 786444 w 6141507"/>
              <a:gd name="connsiteY10" fmla="*/ 1806355 h 3752389"/>
              <a:gd name="connsiteX11" fmla="*/ 2160845 w 6141507"/>
              <a:gd name="connsiteY11" fmla="*/ 224629 h 3752389"/>
              <a:gd name="connsiteX12" fmla="*/ 3215595 w 6141507"/>
              <a:gd name="connsiteY12" fmla="*/ 37 h 375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41507" h="3752389">
                <a:moveTo>
                  <a:pt x="3215595" y="37"/>
                </a:moveTo>
                <a:cubicBezTo>
                  <a:pt x="3793727" y="3265"/>
                  <a:pt x="4373168" y="222053"/>
                  <a:pt x="5025810" y="667544"/>
                </a:cubicBezTo>
                <a:cubicBezTo>
                  <a:pt x="5162471" y="760846"/>
                  <a:pt x="5292423" y="843339"/>
                  <a:pt x="5418068" y="923043"/>
                </a:cubicBezTo>
                <a:cubicBezTo>
                  <a:pt x="5743584" y="1129628"/>
                  <a:pt x="5966418" y="1276344"/>
                  <a:pt x="6130109" y="1458777"/>
                </a:cubicBezTo>
                <a:lnTo>
                  <a:pt x="6141506" y="1473047"/>
                </a:lnTo>
                <a:lnTo>
                  <a:pt x="6141507" y="3752389"/>
                </a:lnTo>
                <a:lnTo>
                  <a:pt x="0" y="3752389"/>
                </a:lnTo>
                <a:lnTo>
                  <a:pt x="7127" y="3638865"/>
                </a:lnTo>
                <a:cubicBezTo>
                  <a:pt x="16780" y="3547020"/>
                  <a:pt x="34303" y="3453276"/>
                  <a:pt x="59603" y="3356358"/>
                </a:cubicBezTo>
                <a:cubicBezTo>
                  <a:pt x="165452" y="2950843"/>
                  <a:pt x="399187" y="2520480"/>
                  <a:pt x="646726" y="2064848"/>
                </a:cubicBezTo>
                <a:cubicBezTo>
                  <a:pt x="692424" y="1980851"/>
                  <a:pt x="739580" y="1893951"/>
                  <a:pt x="786444" y="1806355"/>
                </a:cubicBezTo>
                <a:cubicBezTo>
                  <a:pt x="1205972" y="1022363"/>
                  <a:pt x="1528233" y="488656"/>
                  <a:pt x="2160845" y="224629"/>
                </a:cubicBezTo>
                <a:cubicBezTo>
                  <a:pt x="2522310" y="73767"/>
                  <a:pt x="2868717" y="-1899"/>
                  <a:pt x="3215595" y="37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D734200-AA18-43F2-86A1-08BB838E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814" y="3406834"/>
            <a:ext cx="5724034" cy="3451167"/>
          </a:xfrm>
          <a:custGeom>
            <a:avLst/>
            <a:gdLst>
              <a:gd name="connsiteX0" fmla="*/ 2808622 w 5724034"/>
              <a:gd name="connsiteY0" fmla="*/ 207 h 3451167"/>
              <a:gd name="connsiteX1" fmla="*/ 4400004 w 5724034"/>
              <a:gd name="connsiteY1" fmla="*/ 607462 h 3451167"/>
              <a:gd name="connsiteX2" fmla="*/ 4745277 w 5724034"/>
              <a:gd name="connsiteY2" fmla="*/ 837612 h 3451167"/>
              <a:gd name="connsiteX3" fmla="*/ 5584627 w 5724034"/>
              <a:gd name="connsiteY3" fmla="*/ 1665805 h 3451167"/>
              <a:gd name="connsiteX4" fmla="*/ 5682689 w 5724034"/>
              <a:gd name="connsiteY4" fmla="*/ 1947596 h 3451167"/>
              <a:gd name="connsiteX5" fmla="*/ 5724034 w 5724034"/>
              <a:gd name="connsiteY5" fmla="*/ 2133764 h 3451167"/>
              <a:gd name="connsiteX6" fmla="*/ 5724034 w 5724034"/>
              <a:gd name="connsiteY6" fmla="*/ 3254784 h 3451167"/>
              <a:gd name="connsiteX7" fmla="*/ 5682668 w 5724034"/>
              <a:gd name="connsiteY7" fmla="*/ 3451167 h 3451167"/>
              <a:gd name="connsiteX8" fmla="*/ 3398 w 5724034"/>
              <a:gd name="connsiteY8" fmla="*/ 3451167 h 3451167"/>
              <a:gd name="connsiteX9" fmla="*/ 0 w 5724034"/>
              <a:gd name="connsiteY9" fmla="*/ 3332475 h 3451167"/>
              <a:gd name="connsiteX10" fmla="*/ 51930 w 5724034"/>
              <a:gd name="connsiteY10" fmla="*/ 2960389 h 3451167"/>
              <a:gd name="connsiteX11" fmla="*/ 562146 w 5724034"/>
              <a:gd name="connsiteY11" fmla="*/ 1816544 h 3451167"/>
              <a:gd name="connsiteX12" fmla="*/ 683754 w 5724034"/>
              <a:gd name="connsiteY12" fmla="*/ 1587775 h 3451167"/>
              <a:gd name="connsiteX13" fmla="*/ 1883792 w 5724034"/>
              <a:gd name="connsiteY13" fmla="*/ 191878 h 3451167"/>
              <a:gd name="connsiteX14" fmla="*/ 2808622 w 5724034"/>
              <a:gd name="connsiteY14" fmla="*/ 207 h 345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24034" h="3451167">
                <a:moveTo>
                  <a:pt x="2808622" y="207"/>
                </a:moveTo>
                <a:cubicBezTo>
                  <a:pt x="3316039" y="7471"/>
                  <a:pt x="3825452" y="206405"/>
                  <a:pt x="4400004" y="607462"/>
                </a:cubicBezTo>
                <a:cubicBezTo>
                  <a:pt x="4520314" y="691458"/>
                  <a:pt x="4634691" y="765791"/>
                  <a:pt x="4745277" y="837612"/>
                </a:cubicBezTo>
                <a:cubicBezTo>
                  <a:pt x="5203686" y="1135457"/>
                  <a:pt x="5430786" y="1295036"/>
                  <a:pt x="5584627" y="1665805"/>
                </a:cubicBezTo>
                <a:cubicBezTo>
                  <a:pt x="5622816" y="1757843"/>
                  <a:pt x="5655511" y="1851832"/>
                  <a:pt x="5682689" y="1947596"/>
                </a:cubicBezTo>
                <a:lnTo>
                  <a:pt x="5724034" y="2133764"/>
                </a:lnTo>
                <a:lnTo>
                  <a:pt x="5724034" y="3254784"/>
                </a:lnTo>
                <a:lnTo>
                  <a:pt x="5682668" y="3451167"/>
                </a:lnTo>
                <a:lnTo>
                  <a:pt x="3398" y="3451167"/>
                </a:lnTo>
                <a:lnTo>
                  <a:pt x="0" y="3332475"/>
                </a:lnTo>
                <a:cubicBezTo>
                  <a:pt x="1789" y="3212109"/>
                  <a:pt x="19193" y="3089357"/>
                  <a:pt x="51930" y="2960389"/>
                </a:cubicBezTo>
                <a:cubicBezTo>
                  <a:pt x="143234" y="2600640"/>
                  <a:pt x="346682" y="2219774"/>
                  <a:pt x="562146" y="1816544"/>
                </a:cubicBezTo>
                <a:cubicBezTo>
                  <a:pt x="601922" y="1742209"/>
                  <a:pt x="642967" y="1665303"/>
                  <a:pt x="683754" y="1587775"/>
                </a:cubicBezTo>
                <a:cubicBezTo>
                  <a:pt x="1048876" y="893902"/>
                  <a:pt x="1329611" y="421821"/>
                  <a:pt x="1883792" y="191878"/>
                </a:cubicBezTo>
                <a:cubicBezTo>
                  <a:pt x="2200442" y="60492"/>
                  <a:pt x="2504173" y="-4151"/>
                  <a:pt x="2808622" y="20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81353B-5E36-8CCD-A732-10E0EDA9CEE6}"/>
              </a:ext>
            </a:extLst>
          </p:cNvPr>
          <p:cNvSpPr txBox="1"/>
          <p:nvPr/>
        </p:nvSpPr>
        <p:spPr>
          <a:xfrm>
            <a:off x="3778297" y="2841584"/>
            <a:ext cx="5342949" cy="214291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 lnSpcReduction="10000"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3200" b="1" u="sng" spc="150">
                <a:solidFill>
                  <a:schemeClr val="tx1">
                    <a:lumMod val="75000"/>
                    <a:lumOff val="25000"/>
                  </a:schemeClr>
                </a:solidFill>
              </a:rPr>
              <a:t>Comment se </a:t>
            </a:r>
            <a:r>
              <a:rPr lang="en-US" sz="3200" b="1" u="sng" spc="15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prépare</a:t>
            </a:r>
            <a:r>
              <a:rPr lang="en-US" sz="3200" b="1" u="sng" spc="150">
                <a:solidFill>
                  <a:schemeClr val="tx1">
                    <a:lumMod val="75000"/>
                    <a:lumOff val="25000"/>
                  </a:schemeClr>
                </a:solidFill>
              </a:rPr>
              <a:t> et se </a:t>
            </a:r>
            <a:r>
              <a:rPr lang="en-US" sz="3200" b="1" u="sng" spc="150" err="1">
                <a:solidFill>
                  <a:schemeClr val="tx1">
                    <a:lumMod val="75000"/>
                    <a:lumOff val="25000"/>
                  </a:schemeClr>
                </a:solidFill>
              </a:rPr>
              <a:t>réalise</a:t>
            </a:r>
            <a:r>
              <a:rPr lang="en-US" sz="3200" b="1" u="sng" spc="15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200" b="1" u="sng" spc="15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une</a:t>
            </a:r>
            <a:r>
              <a:rPr lang="en-US" sz="3200" b="1" u="sng" spc="15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200" b="1" u="sng" spc="15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attaque</a:t>
            </a:r>
            <a:r>
              <a:rPr lang="en-US" sz="3200" b="1" u="sng" spc="150">
                <a:solidFill>
                  <a:schemeClr val="tx1">
                    <a:lumMod val="75000"/>
                    <a:lumOff val="25000"/>
                  </a:schemeClr>
                </a:solidFill>
              </a:rPr>
              <a:t> ?</a:t>
            </a:r>
            <a:endParaRPr lang="fr-F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4BDD4A-34D3-43A4-401D-D5F8C12D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4712" y="6170613"/>
            <a:ext cx="5667375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La méthodologie d'une attaque informatique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311DA6-E258-79CE-DAED-EA9F9603D661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5FC1FA-E511-3755-F466-A051486A61AB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FAD928-1C8A-AFB5-BE4C-51D91924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744" y="6170490"/>
            <a:ext cx="1188720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596334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43894-0255-4B30-767B-65115D0B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 plan:</a:t>
            </a:r>
          </a:p>
        </p:txBody>
      </p:sp>
      <p:graphicFrame>
        <p:nvGraphicFramePr>
          <p:cNvPr id="9" name="Espace réservé du contenu 2">
            <a:extLst>
              <a:ext uri="{FF2B5EF4-FFF2-40B4-BE49-F238E27FC236}">
                <a16:creationId xmlns:a16="http://schemas.microsoft.com/office/drawing/2014/main" id="{F9F15E14-908C-D46D-7CF1-C231EB01A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598412"/>
              </p:ext>
            </p:extLst>
          </p:nvPr>
        </p:nvGraphicFramePr>
        <p:xfrm>
          <a:off x="1920240" y="238903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2B8F8D-ED62-7F2D-1C0A-CD0E1134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729D41-4F21-31FD-BD6C-D732182A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4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8CD5C99-8FBE-1460-AEBB-A60597FED126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01D1150-63DF-F84C-7A55-61B4E8D352DD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5702011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25BB1-15CC-37DF-ADFA-7246F398A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39" y="448056"/>
            <a:ext cx="8770571" cy="1345269"/>
          </a:xfrm>
        </p:spPr>
        <p:txBody>
          <a:bodyPr/>
          <a:lstStyle/>
          <a:p>
            <a:r>
              <a:rPr lang="fr-FR"/>
              <a:t>I. Le travail au préalable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09FC1-C71F-79C5-2D40-28C5F72E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fr-FR" sz="1800" b="0" i="0" u="sng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Identification et sélection de la cible</a:t>
            </a:r>
          </a:p>
          <a:p>
            <a:pPr marL="342900" indent="-342900">
              <a:buAutoNum type="arabicParenR"/>
            </a:pPr>
            <a:endParaRPr lang="fr-FR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fr-FR" sz="1800" b="0" i="0" u="sng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Collecte d’informations</a:t>
            </a:r>
          </a:p>
          <a:p>
            <a:pPr marL="342900" indent="-342900">
              <a:buAutoNum type="arabicParenR"/>
            </a:pPr>
            <a:endParaRPr lang="fr-FR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fr-FR" sz="1800" b="0" i="0" u="sng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Exploitation des vulnérabilités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4BEA2D-DE58-2995-6209-81F1285E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92423C-C680-7984-FD2A-346D435B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5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F0FEA0-2CAC-AEF3-03B2-AD2A59588776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791480-0C19-6817-2E1D-C1E93397A110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5971709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A6E86A-4029-6933-DE79-31B682264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944364"/>
          </a:xfrm>
        </p:spPr>
        <p:txBody>
          <a:bodyPr>
            <a:normAutofit fontScale="90000"/>
          </a:bodyPr>
          <a:lstStyle/>
          <a:p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r>
              <a:rPr lang="fr-FR"/>
              <a:t>1) Identification et sélection de la cible</a:t>
            </a:r>
            <a:br>
              <a:rPr lang="fr-FR" sz="3200" b="0" i="0" u="sng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A62064-8548-2A2A-0F89-F9655D82B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fr-FR" sz="2000">
                <a:ea typeface="Meiryo"/>
              </a:rPr>
              <a:t>- Intérêts</a:t>
            </a:r>
          </a:p>
          <a:p>
            <a:endParaRPr lang="fr-FR" sz="2000">
              <a:ea typeface="Meiryo"/>
            </a:endParaRPr>
          </a:p>
          <a:p>
            <a:r>
              <a:rPr lang="fr-FR" sz="2000">
                <a:ea typeface="Meiryo"/>
              </a:rPr>
              <a:t>- Risques</a:t>
            </a:r>
            <a:endParaRPr lang="fr-FR">
              <a:ea typeface="Meiryo"/>
            </a:endParaRPr>
          </a:p>
          <a:p>
            <a:endParaRPr lang="fr-FR">
              <a:ea typeface="Meiryo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2B0548-B8BA-5D52-19DD-07C348A0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5540B8-E37C-AD76-272A-811941E0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6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F1B5B2F-B053-0CA4-ADE3-246394B8D0D3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68E4637-2B5C-9F14-FCCC-720271CEEF42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4148447666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11A14-F32B-4904-A3DC-FFADBCF1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Meiryo"/>
              </a:rPr>
              <a:t>Intérêts et risques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8A7A4B-D90F-1179-9ADF-1894DF7A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0240" y="6249659"/>
            <a:ext cx="5667375" cy="457200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A21F4F-4120-9762-340C-EFEE29E4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7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AA5B20-0F93-47D2-EDA7-BAAC0491599B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F08704-9867-E36E-F29F-D87C44D2DC77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FD6574-D2F1-EF00-4534-A14FF5F2AE96}"/>
              </a:ext>
            </a:extLst>
          </p:cNvPr>
          <p:cNvSpPr txBox="1"/>
          <p:nvPr/>
        </p:nvSpPr>
        <p:spPr>
          <a:xfrm>
            <a:off x="1927266" y="2221675"/>
            <a:ext cx="8498279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 sz="2400">
              <a:ea typeface="Meiryo"/>
            </a:endParaRPr>
          </a:p>
          <a:p>
            <a:r>
              <a:rPr lang="fr-FR" sz="2400">
                <a:ea typeface="Meiryo"/>
              </a:rPr>
              <a:t>Intérêts :</a:t>
            </a:r>
            <a:r>
              <a:rPr lang="fr-FR">
                <a:ea typeface="Meiryo"/>
              </a:rPr>
              <a:t> </a:t>
            </a:r>
          </a:p>
          <a:p>
            <a:r>
              <a:rPr lang="fr-FR">
                <a:ea typeface="Meiryo"/>
              </a:rPr>
              <a:t>             - Politique</a:t>
            </a:r>
          </a:p>
          <a:p>
            <a:endParaRPr lang="fr-FR"/>
          </a:p>
          <a:p>
            <a:r>
              <a:rPr lang="fr-FR">
                <a:ea typeface="Meiryo"/>
              </a:rPr>
              <a:t>             - Economique</a:t>
            </a:r>
          </a:p>
          <a:p>
            <a:endParaRPr lang="fr-FR">
              <a:ea typeface="Meiryo"/>
            </a:endParaRPr>
          </a:p>
          <a:p>
            <a:r>
              <a:rPr lang="fr-FR">
                <a:ea typeface="Meiryo"/>
              </a:rPr>
              <a:t>             - Espionnage industriel </a:t>
            </a:r>
          </a:p>
          <a:p>
            <a:r>
              <a:rPr lang="fr-FR">
                <a:ea typeface="Meiryo"/>
              </a:rPr>
              <a:t>  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3655270640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11A14-F32B-4904-A3DC-FFADBCF1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Meiryo"/>
              </a:rPr>
              <a:t>Intérêts et risques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8A7A4B-D90F-1179-9ADF-1894DF7A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0240" y="6249659"/>
            <a:ext cx="5667375" cy="457200"/>
          </a:xfrm>
        </p:spPr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A21F4F-4120-9762-340C-EFEE29E4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8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AA5B20-0F93-47D2-EDA7-BAAC0491599B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F08704-9867-E36E-F29F-D87C44D2DC77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FD6574-D2F1-EF00-4534-A14FF5F2AE96}"/>
              </a:ext>
            </a:extLst>
          </p:cNvPr>
          <p:cNvSpPr txBox="1"/>
          <p:nvPr/>
        </p:nvSpPr>
        <p:spPr>
          <a:xfrm>
            <a:off x="1927266" y="2221675"/>
            <a:ext cx="849827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>
              <a:ea typeface="Meiryo"/>
            </a:endParaRPr>
          </a:p>
          <a:p>
            <a:r>
              <a:rPr lang="fr-FR" sz="2400">
                <a:ea typeface="Meiryo"/>
              </a:rPr>
              <a:t>Risques : </a:t>
            </a:r>
          </a:p>
          <a:p>
            <a:r>
              <a:rPr lang="fr-FR">
                <a:ea typeface="Meiryo"/>
              </a:rPr>
              <a:t>             - Système très sécurisé </a:t>
            </a:r>
          </a:p>
          <a:p>
            <a:endParaRPr lang="fr-FR">
              <a:ea typeface="Meiryo"/>
            </a:endParaRPr>
          </a:p>
          <a:p>
            <a:r>
              <a:rPr lang="fr-FR">
                <a:ea typeface="Meiryo"/>
              </a:rPr>
              <a:t>             - Réseaux gouvernementaux</a:t>
            </a:r>
          </a:p>
          <a:p>
            <a:r>
              <a:rPr lang="fr-FR">
                <a:ea typeface="Meiryo"/>
              </a:rPr>
              <a:t>      </a:t>
            </a:r>
          </a:p>
          <a:p>
            <a:r>
              <a:rPr lang="fr-FR">
                <a:ea typeface="Meiryo"/>
              </a:rPr>
              <a:t>             - Surveillance du réseau</a:t>
            </a:r>
          </a:p>
          <a:p>
            <a:r>
              <a:rPr lang="fr-FR">
                <a:ea typeface="Meiryo"/>
              </a:rPr>
              <a:t>  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272148727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2) Collecte d’informations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9</a:t>
            </a:fld>
            <a:endParaRPr lang="en-US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F8CFC6E-3033-F82E-BB16-16259D0BD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fr-FR">
                <a:ea typeface="Meiryo"/>
              </a:rPr>
              <a:t>-Numérique : ensemble des moyens informatiques </a:t>
            </a:r>
          </a:p>
          <a:p>
            <a:endParaRPr lang="fr-FR">
              <a:ea typeface="Meiryo"/>
            </a:endParaRPr>
          </a:p>
          <a:p>
            <a:r>
              <a:rPr lang="fr-FR">
                <a:ea typeface="Meiryo"/>
              </a:rPr>
              <a:t>-Physique : déplacement physique 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EA9669-3143-E98D-1532-FE25434F90EA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2D0CEE-AAC7-8FCA-DBDD-06F8EC4C924C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465197837"/>
      </p:ext>
    </p:extLst>
  </p:cSld>
  <p:clrMapOvr>
    <a:masterClrMapping/>
  </p:clrMapOvr>
  <p:transition spd="slow"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D897AF-1AF4-BD2F-9A13-9859122C6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Meiryo"/>
              </a:rPr>
              <a:t>Numérique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B44EEF-D2BA-E2D5-C412-F05E6487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A2BB81-A69D-7021-6808-154BF59B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10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F25CC5B-C8DC-295B-03EE-3B9A446E7463}"/>
              </a:ext>
            </a:extLst>
          </p:cNvPr>
          <p:cNvSpPr txBox="1"/>
          <p:nvPr/>
        </p:nvSpPr>
        <p:spPr>
          <a:xfrm>
            <a:off x="3787587" y="2315287"/>
            <a:ext cx="44403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ea typeface="Meiryo"/>
              </a:rPr>
              <a:t>Récolte de données par internet</a:t>
            </a:r>
          </a:p>
          <a:p>
            <a:endParaRPr lang="fr-FR" b="1">
              <a:ea typeface="Meiry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3A1581-7751-5D11-36D8-0DF17ABAA0BB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FF76B4-7B3C-EEFE-37BE-B09E48B0A6FE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4B53A320-9B02-43C5-5D9E-01674448D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273" y="2318163"/>
            <a:ext cx="6274129" cy="350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3848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6F275B-4674-E452-0CA8-09BD6020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206" y="512289"/>
            <a:ext cx="8770571" cy="1345269"/>
          </a:xfrm>
        </p:spPr>
        <p:txBody>
          <a:bodyPr/>
          <a:lstStyle/>
          <a:p>
            <a:r>
              <a:rPr lang="fr-FR">
                <a:ea typeface="Meiryo"/>
              </a:rPr>
              <a:t>Physique 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06404D-7240-1F0E-C1CD-3F7C3CF6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11E278-7273-1156-4C00-ED804F15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11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1FCF7B7-D7A0-19E1-801B-D261E881AFDE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77F54A1-8BEC-FA72-6627-0D3C8FD049DA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9C2E3751-6E8A-EE56-1DB8-A5F9E5E6E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0546" y="2133266"/>
            <a:ext cx="3197870" cy="1794422"/>
          </a:xfr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FC1DE469-A2F9-F024-59B9-75C6D5C28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0113" y="4251873"/>
            <a:ext cx="1831427" cy="1892738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33BFDCA-EA46-114E-2296-ABAFF27FA8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618828" y="1679466"/>
            <a:ext cx="8776138" cy="4952999"/>
          </a:xfrm>
          <a:prstGeom prst="rect">
            <a:avLst/>
          </a:prstGeom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F4FEE785-CB39-54EC-DB3F-D3BAB342321C}"/>
              </a:ext>
            </a:extLst>
          </p:cNvPr>
          <p:cNvSpPr/>
          <p:nvPr/>
        </p:nvSpPr>
        <p:spPr>
          <a:xfrm>
            <a:off x="8646947" y="3601982"/>
            <a:ext cx="262759" cy="2189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86ED383-1484-3959-2796-6E0D6C723EA8}"/>
              </a:ext>
            </a:extLst>
          </p:cNvPr>
          <p:cNvSpPr/>
          <p:nvPr/>
        </p:nvSpPr>
        <p:spPr>
          <a:xfrm>
            <a:off x="8576877" y="5633981"/>
            <a:ext cx="262759" cy="2189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Graphique 21">
            <a:extLst>
              <a:ext uri="{FF2B5EF4-FFF2-40B4-BE49-F238E27FC236}">
                <a16:creationId xmlns:a16="http://schemas.microsoft.com/office/drawing/2014/main" id="{E80179CB-E5F4-3CC0-87DF-BD2991BFD0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120000">
            <a:off x="6332045" y="3148287"/>
            <a:ext cx="841703" cy="867979"/>
          </a:xfrm>
          <a:prstGeom prst="rect">
            <a:avLst/>
          </a:prstGeom>
        </p:spPr>
      </p:pic>
      <p:pic>
        <p:nvPicPr>
          <p:cNvPr id="23" name="Graphique 22">
            <a:extLst>
              <a:ext uri="{FF2B5EF4-FFF2-40B4-BE49-F238E27FC236}">
                <a16:creationId xmlns:a16="http://schemas.microsoft.com/office/drawing/2014/main" id="{D4FFBC3F-7718-06FB-538B-48F5ED3BD3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">
            <a:off x="6489699" y="4505873"/>
            <a:ext cx="841703" cy="867979"/>
          </a:xfrm>
          <a:prstGeom prst="rect">
            <a:avLst/>
          </a:prstGeom>
        </p:spPr>
      </p:pic>
      <p:pic>
        <p:nvPicPr>
          <p:cNvPr id="24" name="Graphique 23">
            <a:extLst>
              <a:ext uri="{FF2B5EF4-FFF2-40B4-BE49-F238E27FC236}">
                <a16:creationId xmlns:a16="http://schemas.microsoft.com/office/drawing/2014/main" id="{D877516C-BD3D-685A-CFA7-7645E64C25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5400000" flipV="1">
            <a:off x="8777014" y="3358055"/>
            <a:ext cx="707697" cy="702441"/>
          </a:xfrm>
          <a:prstGeom prst="rect">
            <a:avLst/>
          </a:prstGeom>
        </p:spPr>
      </p:pic>
      <p:pic>
        <p:nvPicPr>
          <p:cNvPr id="25" name="Graphique 24">
            <a:extLst>
              <a:ext uri="{FF2B5EF4-FFF2-40B4-BE49-F238E27FC236}">
                <a16:creationId xmlns:a16="http://schemas.microsoft.com/office/drawing/2014/main" id="{19046414-D066-0D7A-3CC1-2AD1C14BE7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5400000" flipV="1">
            <a:off x="8698186" y="5390054"/>
            <a:ext cx="707697" cy="702441"/>
          </a:xfrm>
          <a:prstGeom prst="rect">
            <a:avLst/>
          </a:prstGeom>
        </p:spPr>
      </p:pic>
      <p:sp>
        <p:nvSpPr>
          <p:cNvPr id="3" name="Signe Moins 2">
            <a:extLst>
              <a:ext uri="{FF2B5EF4-FFF2-40B4-BE49-F238E27FC236}">
                <a16:creationId xmlns:a16="http://schemas.microsoft.com/office/drawing/2014/main" id="{BE00F53E-F854-7EE6-3598-98D547F0EEA2}"/>
              </a:ext>
            </a:extLst>
          </p:cNvPr>
          <p:cNvSpPr/>
          <p:nvPr/>
        </p:nvSpPr>
        <p:spPr>
          <a:xfrm rot="21180000">
            <a:off x="1215375" y="4052005"/>
            <a:ext cx="8767377" cy="140139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Signe Moins 5">
            <a:extLst>
              <a:ext uri="{FF2B5EF4-FFF2-40B4-BE49-F238E27FC236}">
                <a16:creationId xmlns:a16="http://schemas.microsoft.com/office/drawing/2014/main" id="{B8A7E236-C721-ACA9-B278-A25E9A9C2623}"/>
              </a:ext>
            </a:extLst>
          </p:cNvPr>
          <p:cNvSpPr/>
          <p:nvPr/>
        </p:nvSpPr>
        <p:spPr>
          <a:xfrm rot="660000">
            <a:off x="1168169" y="5083588"/>
            <a:ext cx="8767377" cy="140139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58D634D-C274-24EF-7B1A-DCC3398C5F94}"/>
              </a:ext>
            </a:extLst>
          </p:cNvPr>
          <p:cNvSpPr txBox="1"/>
          <p:nvPr/>
        </p:nvSpPr>
        <p:spPr>
          <a:xfrm>
            <a:off x="9176164" y="3819896"/>
            <a:ext cx="27164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ea typeface="Meiryo"/>
              </a:rPr>
              <a:t>Serveur entreprise</a:t>
            </a:r>
          </a:p>
          <a:p>
            <a:endParaRPr lang="fr-FR" b="1">
              <a:ea typeface="Meiryo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D74A982-6CC3-92C0-FE7B-5862BCBC6DDF}"/>
              </a:ext>
            </a:extLst>
          </p:cNvPr>
          <p:cNvSpPr txBox="1"/>
          <p:nvPr/>
        </p:nvSpPr>
        <p:spPr>
          <a:xfrm>
            <a:off x="9497786" y="5987143"/>
            <a:ext cx="1954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ea typeface="Meiryo"/>
              </a:rPr>
              <a:t>PC particulier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31441888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75244-6A8F-47C9-0835-97643727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Meiryo"/>
              </a:rPr>
              <a:t>Matériel d'intrusion : Le TAP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4BB847-A8FA-C6C2-B094-413B9BAC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219EA6-1E93-A9E8-CE08-1AA81306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dirty="0" smtClean="0"/>
              <a:pPr algn="l"/>
              <a:t>12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C9E4C69-23C0-C098-F7ED-E2E15BE915D1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25C9F5C-C851-D437-8730-CD4CC0D6953D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870D96D-FD65-56F2-EBCB-94D2C6E9B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10" y="2059641"/>
            <a:ext cx="2514600" cy="2537011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94C2C0A0-1F2B-2B89-D3F3-B09D86BAC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5400000">
            <a:off x="3567952" y="2604246"/>
            <a:ext cx="1459007" cy="1436595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355D047D-FF65-3F72-2722-81E01A134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75511" y="3657601"/>
            <a:ext cx="1044388" cy="1010771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B0645CE9-B862-E695-010C-9D94173B1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879038" y="3657598"/>
            <a:ext cx="1044388" cy="1010772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53716297-61CC-0A8E-498B-786A7319E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940922" y="2537011"/>
            <a:ext cx="1447800" cy="1425389"/>
          </a:xfrm>
          <a:prstGeom prst="rect">
            <a:avLst/>
          </a:prstGeom>
        </p:spPr>
      </p:pic>
      <p:pic>
        <p:nvPicPr>
          <p:cNvPr id="15" name="Image 1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526C6A27-11CB-732F-9677-5D8E6D4D9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858" y="2170019"/>
            <a:ext cx="2131357" cy="1817594"/>
          </a:xfrm>
          <a:prstGeom prst="rect">
            <a:avLst/>
          </a:prstGeom>
        </p:spPr>
      </p:pic>
      <p:pic>
        <p:nvPicPr>
          <p:cNvPr id="17" name="Image 16" descr="Une image contenant capture d’écran, conception, cercle, Rectangle&#10;&#10;Description générée automatiquement">
            <a:extLst>
              <a:ext uri="{FF2B5EF4-FFF2-40B4-BE49-F238E27FC236}">
                <a16:creationId xmlns:a16="http://schemas.microsoft.com/office/drawing/2014/main" id="{9A63D242-CAA6-67C8-0681-B19E4C74E1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623" y="2170019"/>
            <a:ext cx="2456330" cy="2445124"/>
          </a:xfrm>
          <a:prstGeom prst="rect">
            <a:avLst/>
          </a:prstGeom>
        </p:spPr>
      </p:pic>
      <p:pic>
        <p:nvPicPr>
          <p:cNvPr id="23" name="Espace réservé du contenu 22">
            <a:extLst>
              <a:ext uri="{FF2B5EF4-FFF2-40B4-BE49-F238E27FC236}">
                <a16:creationId xmlns:a16="http://schemas.microsoft.com/office/drawing/2014/main" id="{8449C250-1CDC-9DE3-954C-D0DA83B9A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9809" y="4483754"/>
            <a:ext cx="1741394" cy="1808629"/>
          </a:xfr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4070FF42-C882-9421-60F6-6583ADEC6504}"/>
              </a:ext>
            </a:extLst>
          </p:cNvPr>
          <p:cNvSpPr txBox="1"/>
          <p:nvPr/>
        </p:nvSpPr>
        <p:spPr>
          <a:xfrm>
            <a:off x="4653244" y="5933515"/>
            <a:ext cx="27118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ea typeface="Meiryo"/>
              </a:rPr>
              <a:t>Dispositif d'écoute</a:t>
            </a:r>
          </a:p>
        </p:txBody>
      </p:sp>
    </p:spTree>
    <p:extLst>
      <p:ext uri="{BB962C8B-B14F-4D97-AF65-F5344CB8AC3E}">
        <p14:creationId xmlns:p14="http://schemas.microsoft.com/office/powerpoint/2010/main" val="99253963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3) Exploitation des vulnérabilités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8DF15-72A6-800B-2C76-F5360FD7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fr-FR">
                <a:ea typeface="Meiryo"/>
              </a:rPr>
              <a:t>Injection SQL</a:t>
            </a:r>
          </a:p>
          <a:p>
            <a:endParaRPr lang="fr-FR">
              <a:ea typeface="Meiryo"/>
            </a:endParaRPr>
          </a:p>
          <a:p>
            <a:r>
              <a:rPr lang="fr-FR">
                <a:ea typeface="Meiryo"/>
              </a:rPr>
              <a:t>Cross-site </a:t>
            </a:r>
            <a:r>
              <a:rPr lang="fr-FR" err="1">
                <a:ea typeface="Meiryo"/>
              </a:rPr>
              <a:t>scripting</a:t>
            </a:r>
            <a:endParaRPr lang="fr-FR">
              <a:ea typeface="Meiryo"/>
            </a:endParaRPr>
          </a:p>
          <a:p>
            <a:endParaRPr lang="fr-FR">
              <a:ea typeface="Meiryo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13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3B37CC4-3D62-B912-5DFC-115FC15DCDD6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74CCD2-6B9F-DF25-511E-7716008146FF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848469759"/>
      </p:ext>
    </p:extLst>
  </p:cSld>
  <p:clrMapOvr>
    <a:masterClrMapping/>
  </p:clrMapOvr>
  <p:transition spd="slow"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86F3B0-367C-D30E-A16B-CEE174B8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Meiryo"/>
              </a:rPr>
              <a:t>Injection SQL</a:t>
            </a:r>
            <a:endParaRPr lang="fr-FR"/>
          </a:p>
        </p:txBody>
      </p:sp>
      <p:pic>
        <p:nvPicPr>
          <p:cNvPr id="6" name="Espace réservé du contenu 5" descr="The Ultimate Guide to SQL Injection - PurpleBox">
            <a:extLst>
              <a:ext uri="{FF2B5EF4-FFF2-40B4-BE49-F238E27FC236}">
                <a16:creationId xmlns:a16="http://schemas.microsoft.com/office/drawing/2014/main" id="{4D8543F5-A874-99F8-C6AD-CFD9ACBB6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9518" y="2500518"/>
            <a:ext cx="7492063" cy="3276190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BFCDFF-37EC-78EB-36B1-ADBFE3E1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A56790-CA83-DB0A-7D77-841C81D0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14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DAEE02-FD90-3D1E-6BF6-931CA69AB24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E60441-7A79-F79B-253C-5735FF82E512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FF81F01-24F5-1B49-D026-8F7BE80E73B9}"/>
              </a:ext>
            </a:extLst>
          </p:cNvPr>
          <p:cNvSpPr txBox="1"/>
          <p:nvPr/>
        </p:nvSpPr>
        <p:spPr>
          <a:xfrm>
            <a:off x="5078570" y="5776174"/>
            <a:ext cx="700396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https://www.prplbx.com/resources/blog/sql-injection/</a:t>
            </a:r>
            <a:endParaRPr lang="en-US" sz="120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215858287"/>
      </p:ext>
    </p:extLst>
  </p:cSld>
  <p:clrMapOvr>
    <a:masterClrMapping/>
  </p:clrMapOvr>
  <p:transition spd="med"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6E8F19-2B04-B48F-CAD7-E2DADA0A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916" y="506614"/>
            <a:ext cx="8770571" cy="1345269"/>
          </a:xfrm>
        </p:spPr>
        <p:txBody>
          <a:bodyPr/>
          <a:lstStyle/>
          <a:p>
            <a:r>
              <a:rPr lang="fr-FR">
                <a:ea typeface="Meiryo"/>
              </a:rPr>
              <a:t>Cross-site Scripting</a:t>
            </a:r>
            <a:endParaRPr lang="fr-FR"/>
          </a:p>
        </p:txBody>
      </p:sp>
      <p:pic>
        <p:nvPicPr>
          <p:cNvPr id="6" name="Espace réservé du contenu 5" descr="Handling Cross-Site Scripting (XSS) in ASP.NET MVC">
            <a:extLst>
              <a:ext uri="{FF2B5EF4-FFF2-40B4-BE49-F238E27FC236}">
                <a16:creationId xmlns:a16="http://schemas.microsoft.com/office/drawing/2014/main" id="{221BEEBB-373E-C11B-36ED-7433F2C82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1206" y="2194931"/>
            <a:ext cx="6207757" cy="385516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30D50F-D567-E08D-A407-8AD86136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5CC560-C289-7A91-DB86-23A54D47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15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10E0539-7C3A-DA1A-263F-D3C208A44181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63C16B1-708F-AB8E-B7D3-40415F0F5698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498011042"/>
      </p:ext>
    </p:extLst>
  </p:cSld>
  <p:clrMapOvr>
    <a:masterClrMapping/>
  </p:clrMapOvr>
  <p:transition spd="slow">
    <p:cover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II. Réalisation de l’attaque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16</a:t>
            </a:fld>
            <a:endParaRPr lang="en-US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B296C32-E567-97A5-B4D6-33425B454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3651504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fr-FR" u="sng">
                <a:solidFill>
                  <a:srgbClr val="000000"/>
                </a:solidFill>
                <a:latin typeface="Arial" panose="020B0604020202020204" pitchFamily="34" charset="0"/>
              </a:rPr>
              <a:t>Le mouvement latéral</a:t>
            </a:r>
            <a:endParaRPr lang="fr-FR" sz="1800" b="0" i="0" u="sng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arenR"/>
            </a:pPr>
            <a:endParaRPr lang="fr-FR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fr-FR" u="sng">
                <a:solidFill>
                  <a:srgbClr val="000000"/>
                </a:solidFill>
                <a:latin typeface="Arial" panose="020B0604020202020204" pitchFamily="34" charset="0"/>
              </a:rPr>
              <a:t>Acquisition des droits d’administrateur</a:t>
            </a:r>
            <a:r>
              <a:rPr lang="fr-FR" sz="1800" b="0" i="0" u="sng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</a:t>
            </a:r>
          </a:p>
          <a:p>
            <a:pPr marL="342900" indent="-342900">
              <a:buAutoNum type="arabicParenR"/>
            </a:pPr>
            <a:endParaRPr lang="fr-FR" u="sng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fr-FR" u="sng">
                <a:solidFill>
                  <a:srgbClr val="000000"/>
                </a:solidFill>
                <a:latin typeface="Arial" panose="020B0604020202020204" pitchFamily="34" charset="0"/>
              </a:rPr>
              <a:t>Les actions des pirates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F2B56-0A35-1B21-0C8B-190CEEA363E6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6AF0E5-917F-C15F-1172-B4110F2A3A1F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658062017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1) Le mouvement latéral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8DF15-72A6-800B-2C76-F5360FD7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39" y="2832394"/>
            <a:ext cx="8770571" cy="3651504"/>
          </a:xfrm>
        </p:spPr>
        <p:txBody>
          <a:bodyPr/>
          <a:lstStyle/>
          <a:p>
            <a:r>
              <a:rPr lang="fr-FR"/>
              <a:t>- </a:t>
            </a:r>
            <a:r>
              <a:rPr lang="fr-FR" err="1"/>
              <a:t>Pass</a:t>
            </a:r>
            <a:r>
              <a:rPr lang="fr-FR"/>
              <a:t> the hash</a:t>
            </a:r>
          </a:p>
          <a:p>
            <a:endParaRPr lang="fr-FR"/>
          </a:p>
          <a:p>
            <a:r>
              <a:rPr lang="fr-FR"/>
              <a:t>- Man in the middle</a:t>
            </a:r>
          </a:p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17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636E2B-F161-CE1A-73F6-11C30353BC7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261D821-9BFD-ADFC-B590-E69741913BFF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148012737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20051-3232-0ADA-1749-FE070CF9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Pass</a:t>
            </a:r>
            <a:r>
              <a:rPr lang="fr-FR"/>
              <a:t> the hash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A74550-3EFA-AE9D-3C3E-6B550AB1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9272C3-3C80-326D-8875-86D105C8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18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612888-A505-8886-0854-834F3CA85CD0}"/>
              </a:ext>
            </a:extLst>
          </p:cNvPr>
          <p:cNvSpPr txBox="1"/>
          <p:nvPr/>
        </p:nvSpPr>
        <p:spPr>
          <a:xfrm>
            <a:off x="352044" y="3240325"/>
            <a:ext cx="2592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Hash: fonction de chiffrage, permet de garder un code secret</a:t>
            </a:r>
          </a:p>
          <a:p>
            <a:endParaRPr lang="fr-FR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EEA590BC-2251-62CA-447B-46E4B9E24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561" y="2788109"/>
            <a:ext cx="2154316" cy="2154316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90002B4-5FC7-C5CA-5583-CFCDA822C502}"/>
              </a:ext>
            </a:extLst>
          </p:cNvPr>
          <p:cNvCxnSpPr/>
          <p:nvPr/>
        </p:nvCxnSpPr>
        <p:spPr>
          <a:xfrm>
            <a:off x="5555972" y="3200220"/>
            <a:ext cx="394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que 14">
            <a:extLst>
              <a:ext uri="{FF2B5EF4-FFF2-40B4-BE49-F238E27FC236}">
                <a16:creationId xmlns:a16="http://schemas.microsoft.com/office/drawing/2014/main" id="{DFFB22B4-2EAF-F644-9972-2B3F54EEF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9895" y="3289956"/>
            <a:ext cx="735648" cy="73564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9F707C8-726C-764E-474D-D0F17BD64637}"/>
              </a:ext>
            </a:extLst>
          </p:cNvPr>
          <p:cNvSpPr txBox="1"/>
          <p:nvPr/>
        </p:nvSpPr>
        <p:spPr>
          <a:xfrm>
            <a:off x="5721463" y="2846401"/>
            <a:ext cx="3732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/>
              <a:t>Un faux employé veut se connecter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18A0822-45F3-4259-9306-51260FBA5729}"/>
              </a:ext>
            </a:extLst>
          </p:cNvPr>
          <p:cNvCxnSpPr>
            <a:cxnSpLocks/>
          </p:cNvCxnSpPr>
          <p:nvPr/>
        </p:nvCxnSpPr>
        <p:spPr>
          <a:xfrm flipH="1">
            <a:off x="5555971" y="3865267"/>
            <a:ext cx="394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5D23515-8B35-E81B-D716-2D1CBC08E156}"/>
              </a:ext>
            </a:extLst>
          </p:cNvPr>
          <p:cNvSpPr txBox="1"/>
          <p:nvPr/>
        </p:nvSpPr>
        <p:spPr>
          <a:xfrm>
            <a:off x="5089393" y="3989662"/>
            <a:ext cx="4863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/>
              <a:t>Le PC envoie sa réponse avec la fonction volée</a:t>
            </a:r>
          </a:p>
        </p:txBody>
      </p:sp>
      <p:pic>
        <p:nvPicPr>
          <p:cNvPr id="28" name="Graphique 27">
            <a:extLst>
              <a:ext uri="{FF2B5EF4-FFF2-40B4-BE49-F238E27FC236}">
                <a16:creationId xmlns:a16="http://schemas.microsoft.com/office/drawing/2014/main" id="{9A04DC7C-FFBD-9277-98CE-5A6297D6D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7740" y="2788109"/>
            <a:ext cx="2154316" cy="215431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A70FA36-6A9B-D164-BF13-AC9765207628}"/>
              </a:ext>
            </a:extLst>
          </p:cNvPr>
          <p:cNvSpPr txBox="1"/>
          <p:nvPr/>
        </p:nvSpPr>
        <p:spPr>
          <a:xfrm>
            <a:off x="5164734" y="3444921"/>
            <a:ext cx="471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Le PC cible demande le résultat du hash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7757BA6-FCA0-72A2-67D9-00B373649D34}"/>
              </a:ext>
            </a:extLst>
          </p:cNvPr>
          <p:cNvCxnSpPr/>
          <p:nvPr/>
        </p:nvCxnSpPr>
        <p:spPr>
          <a:xfrm>
            <a:off x="5564313" y="4358747"/>
            <a:ext cx="394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544E5C78-0723-1E14-35D6-B09837D07D80}"/>
              </a:ext>
            </a:extLst>
          </p:cNvPr>
          <p:cNvCxnSpPr>
            <a:cxnSpLocks/>
          </p:cNvCxnSpPr>
          <p:nvPr/>
        </p:nvCxnSpPr>
        <p:spPr>
          <a:xfrm flipH="1">
            <a:off x="5564313" y="4858915"/>
            <a:ext cx="394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40F6B190-EBAA-AD62-208B-510488E6F4A6}"/>
              </a:ext>
            </a:extLst>
          </p:cNvPr>
          <p:cNvSpPr txBox="1"/>
          <p:nvPr/>
        </p:nvSpPr>
        <p:spPr>
          <a:xfrm>
            <a:off x="4893986" y="4443009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Le PC cible compare et accepte la connexion</a:t>
            </a:r>
          </a:p>
        </p:txBody>
      </p:sp>
      <p:pic>
        <p:nvPicPr>
          <p:cNvPr id="35" name="Graphique 34">
            <a:extLst>
              <a:ext uri="{FF2B5EF4-FFF2-40B4-BE49-F238E27FC236}">
                <a16:creationId xmlns:a16="http://schemas.microsoft.com/office/drawing/2014/main" id="{DFC0365F-CB9B-0AC4-AA8D-408764D34D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71968" y="3342454"/>
            <a:ext cx="645859" cy="645859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AF44EF50-4F4B-3442-3011-F0A79D6D9158}"/>
              </a:ext>
            </a:extLst>
          </p:cNvPr>
          <p:cNvSpPr txBox="1"/>
          <p:nvPr/>
        </p:nvSpPr>
        <p:spPr>
          <a:xfrm>
            <a:off x="5329326" y="5284125"/>
            <a:ext cx="4248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/>
              <a:t>(inspiré de : https://www.login-securite.com)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48C07A-A5ED-4894-E1B7-464A53CAE387}"/>
              </a:ext>
            </a:extLst>
          </p:cNvPr>
          <p:cNvSpPr txBox="1"/>
          <p:nvPr/>
        </p:nvSpPr>
        <p:spPr>
          <a:xfrm>
            <a:off x="3482696" y="4717653"/>
            <a:ext cx="1204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PC piraté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C8D657-1066-E2F0-8C84-1DA4CE62BA78}"/>
              </a:ext>
            </a:extLst>
          </p:cNvPr>
          <p:cNvSpPr txBox="1"/>
          <p:nvPr/>
        </p:nvSpPr>
        <p:spPr>
          <a:xfrm>
            <a:off x="10320585" y="4902188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PC cible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6FF8C-8A6C-AB0F-3C83-DCEC20935FAC}"/>
              </a:ext>
            </a:extLst>
          </p:cNvPr>
          <p:cNvSpPr/>
          <p:nvPr/>
        </p:nvSpPr>
        <p:spPr>
          <a:xfrm>
            <a:off x="2944368" y="2441196"/>
            <a:ext cx="9098096" cy="3389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04D6F21-6DB8-39C4-E028-E6408435ACD8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2C1460-B247-E70F-5492-139D796BB40A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566105814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6" grpId="2"/>
      <p:bldP spid="27" grpId="0"/>
      <p:bldP spid="27" grpId="1"/>
      <p:bldP spid="27" grpId="2"/>
      <p:bldP spid="29" grpId="0"/>
      <p:bldP spid="29" grpId="1"/>
      <p:bldP spid="29" grpId="2"/>
      <p:bldP spid="32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Freeform: Shape 1030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5" name="Freeform: Shape 1032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66" name="Freeform: Shape 1034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67" name="Freeform: Shape 1036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68" name="Freeform: Shape 1038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9" name="Freeform: Shape 1040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0" name="Freeform: Shape 1042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1" name="Freeform: Shape 1044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072" name="Rectangle 1071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3" name="Freeform: Shape 1048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4" name="Freeform: Shape 1050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5" name="Freeform: Shape 1052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6" name="Freeform: Shape 1054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7" name="Freeform: Shape 1056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C8972A-9F21-A154-DDD3-105925EA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847" y="355999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Man in the middle</a:t>
            </a:r>
          </a:p>
        </p:txBody>
      </p:sp>
      <p:pic>
        <p:nvPicPr>
          <p:cNvPr id="1026" name="Picture 2" descr="Qu'est-ce qu'une attaque Man-In-The-Middle">
            <a:extLst>
              <a:ext uri="{FF2B5EF4-FFF2-40B4-BE49-F238E27FC236}">
                <a16:creationId xmlns:a16="http://schemas.microsoft.com/office/drawing/2014/main" id="{BD48A45F-37FD-0ED5-270C-696BDF0A6E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4160" y="2418220"/>
            <a:ext cx="6145222" cy="202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91E83B-DBE2-C4CB-EC7A-BFB3A048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6834" y="6170490"/>
            <a:ext cx="6098332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La méthodologie d'une attaque informatique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B6D11D-3B04-8CA7-9703-7A08F16D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79E37AA-C625-2085-1A10-C49F3AE84829}"/>
              </a:ext>
            </a:extLst>
          </p:cNvPr>
          <p:cNvSpPr txBox="1"/>
          <p:nvPr/>
        </p:nvSpPr>
        <p:spPr>
          <a:xfrm>
            <a:off x="4627402" y="4767394"/>
            <a:ext cx="2654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/>
              <a:t>(https://blog.pradeo.com)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696600C-0DB0-777E-F41A-4637E1FE970D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28E4766-CB53-5F7C-D5ED-65F31527F599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182778371"/>
      </p:ext>
    </p:extLst>
  </p:cSld>
  <p:clrMapOvr>
    <a:masterClrMapping/>
  </p:clrMapOvr>
  <p:transition spd="med">
    <p:pull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2) Acquisition des droits d’administrateurs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8DF15-72A6-800B-2C76-F5360FD7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39" y="2832394"/>
            <a:ext cx="8770571" cy="3651504"/>
          </a:xfrm>
        </p:spPr>
        <p:txBody>
          <a:bodyPr/>
          <a:lstStyle/>
          <a:p>
            <a:r>
              <a:rPr lang="fr-FR"/>
              <a:t>- Escalade horizontale </a:t>
            </a:r>
          </a:p>
          <a:p>
            <a:endParaRPr lang="fr-FR"/>
          </a:p>
          <a:p>
            <a:r>
              <a:rPr lang="fr-FR"/>
              <a:t>- Escalade verticale</a:t>
            </a:r>
          </a:p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20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636E2B-F161-CE1A-73F6-11C30353BC7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261D821-9BFD-ADFC-B590-E69741913BFF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490474867"/>
      </p:ext>
    </p:extLst>
  </p:cSld>
  <p:clrMapOvr>
    <a:masterClrMapping/>
  </p:clrMapOvr>
  <p:transition spd="slow">
    <p:push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1" name="Freeform: Shape 2070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5" name="Freeform: Shape 2074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9" name="Freeform: Shape 2078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81" name="Freeform: Shape 2080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83" name="Freeform: Shape 2082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618" y="526358"/>
            <a:ext cx="8394306" cy="150282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2) Acquisition des droits </a:t>
            </a:r>
            <a:r>
              <a:rPr lang="en-US" sz="3800" err="1">
                <a:solidFill>
                  <a:schemeClr val="tx1">
                    <a:lumMod val="85000"/>
                    <a:lumOff val="15000"/>
                  </a:schemeClr>
                </a:solidFill>
              </a:rPr>
              <a:t>d’administrateurs</a:t>
            </a: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41AAD4E-4A84-2F90-EB28-5FFCAEEE4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6134" y="2027247"/>
            <a:ext cx="5593473" cy="33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6834" y="6170490"/>
            <a:ext cx="6098332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La méthodologie d'une attaque informatique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091DFF-64D3-E9AA-F35C-8C1863F8CEE2}"/>
              </a:ext>
            </a:extLst>
          </p:cNvPr>
          <p:cNvSpPr txBox="1"/>
          <p:nvPr/>
        </p:nvSpPr>
        <p:spPr>
          <a:xfrm>
            <a:off x="4691545" y="5474739"/>
            <a:ext cx="2393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0" i="1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(https://www.baeldung.com)</a:t>
            </a:r>
            <a:endParaRPr lang="fr-FR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343601-9915-60C1-63E7-A05430FD01B4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BE6762-C60B-0CF9-ECBB-3834854E851C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404241006"/>
      </p:ext>
    </p:extLst>
  </p:cSld>
  <p:clrMapOvr>
    <a:masterClrMapping/>
  </p:clrMapOvr>
  <p:transition spd="slow">
    <p:cover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1" name="Freeform: Shape 2070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5" name="Freeform: Shape 2074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9" name="Freeform: Shape 2078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81" name="Freeform: Shape 2080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83" name="Freeform: Shape 2082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618" y="526358"/>
            <a:ext cx="8394306" cy="150282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2) Acquisition des droits </a:t>
            </a:r>
            <a:r>
              <a:rPr lang="en-US" sz="3800" err="1">
                <a:solidFill>
                  <a:schemeClr val="tx1">
                    <a:lumMod val="85000"/>
                    <a:lumOff val="15000"/>
                  </a:schemeClr>
                </a:solidFill>
              </a:rPr>
              <a:t>d’administrateurs</a:t>
            </a: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2E3836-20E0-644A-555C-4FD53898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7950" y="2161717"/>
            <a:ext cx="5199750" cy="314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6834" y="6170490"/>
            <a:ext cx="6098332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La méthodologie d'une attaque informatique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091DFF-64D3-E9AA-F35C-8C1863F8CEE2}"/>
              </a:ext>
            </a:extLst>
          </p:cNvPr>
          <p:cNvSpPr txBox="1"/>
          <p:nvPr/>
        </p:nvSpPr>
        <p:spPr>
          <a:xfrm>
            <a:off x="4691545" y="5306650"/>
            <a:ext cx="2393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0" i="1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(https://www.baeldung.com)</a:t>
            </a:r>
            <a:endParaRPr lang="fr-FR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9E0E7D-8639-A279-7ACA-8A97AFC885A4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ABBDF36-D623-8265-361B-D1B793DBC5CA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106187047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3) Les actions des pirates et après l’attaque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8DF15-72A6-800B-2C76-F5360FD7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39" y="2832394"/>
            <a:ext cx="8770571" cy="3651504"/>
          </a:xfrm>
        </p:spPr>
        <p:txBody>
          <a:bodyPr/>
          <a:lstStyle/>
          <a:p>
            <a:r>
              <a:rPr lang="fr-FR"/>
              <a:t>- L’assaut</a:t>
            </a:r>
          </a:p>
          <a:p>
            <a:endParaRPr lang="fr-FR"/>
          </a:p>
          <a:p>
            <a:r>
              <a:rPr lang="fr-FR"/>
              <a:t>- L’exfiltration</a:t>
            </a:r>
          </a:p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23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636E2B-F161-CE1A-73F6-11C30353BC7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261D821-9BFD-ADFC-B590-E69741913BFF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156467176"/>
      </p:ext>
    </p:extLst>
  </p:cSld>
  <p:clrMapOvr>
    <a:masterClrMapping/>
  </p:clrMapOvr>
  <p:transition spd="slow">
    <p:cover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 err="1"/>
              <a:t>L’assaut</a:t>
            </a:r>
            <a:endParaRPr lang="en-US"/>
          </a:p>
        </p:txBody>
      </p:sp>
      <p:pic>
        <p:nvPicPr>
          <p:cNvPr id="3" name="Image 2" descr="WannaCry ransomware attack image">
            <a:extLst>
              <a:ext uri="{FF2B5EF4-FFF2-40B4-BE49-F238E27FC236}">
                <a16:creationId xmlns:a16="http://schemas.microsoft.com/office/drawing/2014/main" id="{D0F2C606-988C-B59E-85ED-6275A89B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81" y="747218"/>
            <a:ext cx="6559199" cy="49489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EB4DC7C-E6E4-0869-A1C7-A52751FE5AAD}"/>
              </a:ext>
            </a:extLst>
          </p:cNvPr>
          <p:cNvSpPr txBox="1"/>
          <p:nvPr/>
        </p:nvSpPr>
        <p:spPr>
          <a:xfrm>
            <a:off x="2356723" y="5562308"/>
            <a:ext cx="3099139" cy="2385392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US" sz="1400" i="1" spc="1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(https://en.wikipedia.org)</a:t>
            </a:r>
            <a:endParaRPr lang="fr-FR" sz="1400" i="1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0240" y="6170490"/>
            <a:ext cx="5667375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La méthodologie d'une attaque informatique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744" y="6170490"/>
            <a:ext cx="1188720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l">
              <a:spcAft>
                <a:spcPts val="600"/>
              </a:spcAft>
            </a:pPr>
            <a:fld id="{FAEF9944-A4F6-4C59-AEBD-678D6480B8EA}" type="slidenum">
              <a:rPr lang="en-US" smtClean="0"/>
              <a:pPr algn="l"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E297DCD-6EA1-FE06-8F23-4DB62768792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DA5A0FD-118A-955A-EA32-77AF1157E3E1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272610278"/>
      </p:ext>
    </p:extLst>
  </p:cSld>
  <p:clrMapOvr>
    <a:masterClrMapping/>
  </p:clrMapOvr>
  <p:transition spd="slow">
    <p:push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3B35CA-475F-F942-F509-C3244FA0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 err="1"/>
              <a:t>L’exfiltration</a:t>
            </a:r>
            <a:r>
              <a:rPr lang="en-US"/>
              <a:t>	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402049-1A8D-ECED-6350-B38C24D6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0240" y="6170490"/>
            <a:ext cx="5667375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La méthodologie d'une attaque informatique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3CF256-1BE9-72DD-757F-B359003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744" y="6170490"/>
            <a:ext cx="1188720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l">
              <a:spcAft>
                <a:spcPts val="600"/>
              </a:spcAft>
            </a:pPr>
            <a:fld id="{FAEF9944-A4F6-4C59-AEBD-678D6480B8EA}" type="slidenum">
              <a:rPr lang="en-US" smtClean="0"/>
              <a:pPr algn="l"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E297DCD-6EA1-FE06-8F23-4DB62768792F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DA5A0FD-118A-955A-EA32-77AF1157E3E1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E29036-7FC8-BE8B-E4B7-5C48A9AA53AA}"/>
              </a:ext>
            </a:extLst>
          </p:cNvPr>
          <p:cNvSpPr txBox="1"/>
          <p:nvPr/>
        </p:nvSpPr>
        <p:spPr>
          <a:xfrm>
            <a:off x="455874" y="1648449"/>
            <a:ext cx="494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- Suppression de fichier log</a:t>
            </a:r>
          </a:p>
        </p:txBody>
      </p:sp>
      <p:pic>
        <p:nvPicPr>
          <p:cNvPr id="1028" name="Picture 4" descr="Savoir lire un fichier Log pour le SEO – Ramenos Blog">
            <a:extLst>
              <a:ext uri="{FF2B5EF4-FFF2-40B4-BE49-F238E27FC236}">
                <a16:creationId xmlns:a16="http://schemas.microsoft.com/office/drawing/2014/main" id="{3F898889-BE37-7FC0-C262-C102EE9FE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7" y="2129033"/>
            <a:ext cx="476250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A6E8D9B-ED28-D16E-056A-8D635E450A3A}"/>
              </a:ext>
            </a:extLst>
          </p:cNvPr>
          <p:cNvSpPr txBox="1"/>
          <p:nvPr/>
        </p:nvSpPr>
        <p:spPr>
          <a:xfrm>
            <a:off x="463337" y="1159979"/>
            <a:ext cx="338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- Rançon en cryptomonnaie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3BE0AE9-B1B4-C424-01F4-2DE5B03D4355}"/>
              </a:ext>
            </a:extLst>
          </p:cNvPr>
          <p:cNvSpPr txBox="1"/>
          <p:nvPr/>
        </p:nvSpPr>
        <p:spPr>
          <a:xfrm>
            <a:off x="536894" y="3798332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- Usurpation d’identité </a:t>
            </a:r>
          </a:p>
        </p:txBody>
      </p:sp>
    </p:spTree>
    <p:extLst>
      <p:ext uri="{BB962C8B-B14F-4D97-AF65-F5344CB8AC3E}">
        <p14:creationId xmlns:p14="http://schemas.microsoft.com/office/powerpoint/2010/main" val="3098751027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C5216D-4259-C8EC-80B2-8E567420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Conclusion: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745EE3-7356-C34E-BE54-EE1F673C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 méthodologie d'une attaque informatique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9E52A8-B9F2-50AE-C761-F94EC32C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26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B9636A8-3E87-ABDB-9574-4FD154665D96}"/>
              </a:ext>
            </a:extLst>
          </p:cNvPr>
          <p:cNvSpPr txBox="1"/>
          <p:nvPr/>
        </p:nvSpPr>
        <p:spPr>
          <a:xfrm>
            <a:off x="125506" y="91810"/>
            <a:ext cx="5880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200"/>
              <a:t>BOUVIER Robin, MBAYE Fatou, THIEBAUD-GIRARD Paul-Victory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4DD3991-0D27-A028-364C-AE6441F3D8D3}"/>
              </a:ext>
            </a:extLst>
          </p:cNvPr>
          <p:cNvSpPr txBox="1"/>
          <p:nvPr/>
        </p:nvSpPr>
        <p:spPr>
          <a:xfrm>
            <a:off x="8650646" y="76421"/>
            <a:ext cx="3541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/>
              <a:t>BUT1 Réseaux et Télécommunications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EF29B0-1A88-23FB-0AC5-0CC6872CB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- Identification d’une cible, informations</a:t>
            </a:r>
          </a:p>
          <a:p>
            <a:endParaRPr lang="fr-FR"/>
          </a:p>
          <a:p>
            <a:r>
              <a:rPr lang="fr-FR"/>
              <a:t>- Brèche, escalade, assaut </a:t>
            </a:r>
          </a:p>
        </p:txBody>
      </p:sp>
    </p:spTree>
    <p:extLst>
      <p:ext uri="{BB962C8B-B14F-4D97-AF65-F5344CB8AC3E}">
        <p14:creationId xmlns:p14="http://schemas.microsoft.com/office/powerpoint/2010/main" val="376846993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ketchLines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2"/>
      </a:lt2>
      <a:accent1>
        <a:srgbClr val="C34D7E"/>
      </a:accent1>
      <a:accent2>
        <a:srgbClr val="B13B9D"/>
      </a:accent2>
      <a:accent3>
        <a:srgbClr val="A64DC3"/>
      </a:accent3>
      <a:accent4>
        <a:srgbClr val="633BB1"/>
      </a:accent4>
      <a:accent5>
        <a:srgbClr val="4D56C3"/>
      </a:accent5>
      <a:accent6>
        <a:srgbClr val="3B76B1"/>
      </a:accent6>
      <a:hlink>
        <a:srgbClr val="675EC9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458364-7aaa-43de-b229-6513c24153c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41CB8C2582AE41B65236C0F4C50215" ma:contentTypeVersion="4" ma:contentTypeDescription="Crée un document." ma:contentTypeScope="" ma:versionID="231011ab214c11c30a69ad0968e4f008">
  <xsd:schema xmlns:xsd="http://www.w3.org/2001/XMLSchema" xmlns:xs="http://www.w3.org/2001/XMLSchema" xmlns:p="http://schemas.microsoft.com/office/2006/metadata/properties" xmlns:ns3="47458364-7aaa-43de-b229-6513c24153c9" targetNamespace="http://schemas.microsoft.com/office/2006/metadata/properties" ma:root="true" ma:fieldsID="a6852038aed290aa36d1c67d131223ff" ns3:_="">
    <xsd:import namespace="47458364-7aaa-43de-b229-6513c2415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458364-7aaa-43de-b229-6513c24153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B42AB3-6975-485F-BC59-9F036B6FDA6F}">
  <ds:schemaRefs>
    <ds:schemaRef ds:uri="http://schemas.microsoft.com/office/2006/metadata/properties"/>
    <ds:schemaRef ds:uri="http://purl.org/dc/dcmitype/"/>
    <ds:schemaRef ds:uri="http://purl.org/dc/elements/1.1/"/>
    <ds:schemaRef ds:uri="47458364-7aaa-43de-b229-6513c24153c9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3DD2ED9-0A0E-432F-95E7-F0FD401E0D36}">
  <ds:schemaRefs>
    <ds:schemaRef ds:uri="47458364-7aaa-43de-b229-6513c24153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907429-F269-4D46-AD29-8C9436199B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Microsoft Office PowerPoint</Application>
  <PresentationFormat>Grand écran</PresentationFormat>
  <Paragraphs>204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Meiryo</vt:lpstr>
      <vt:lpstr>Arial</vt:lpstr>
      <vt:lpstr>Calibri</vt:lpstr>
      <vt:lpstr>Corbel</vt:lpstr>
      <vt:lpstr>SketchLinesVTI</vt:lpstr>
      <vt:lpstr>La méthodologie d’une attaque </vt:lpstr>
      <vt:lpstr>Définitions:</vt:lpstr>
      <vt:lpstr>La problématique:</vt:lpstr>
      <vt:lpstr>Le plan:</vt:lpstr>
      <vt:lpstr>I. Le travail au préalable</vt:lpstr>
      <vt:lpstr>      1) Identification et sélection de la cible </vt:lpstr>
      <vt:lpstr>Intérêts et risques</vt:lpstr>
      <vt:lpstr>Intérêts et risques</vt:lpstr>
      <vt:lpstr>2) Collecte d’informations</vt:lpstr>
      <vt:lpstr>Numérique</vt:lpstr>
      <vt:lpstr>Physique </vt:lpstr>
      <vt:lpstr>Matériel d'intrusion : Le TAP</vt:lpstr>
      <vt:lpstr>3) Exploitation des vulnérabilités</vt:lpstr>
      <vt:lpstr>Injection SQL</vt:lpstr>
      <vt:lpstr>Cross-site Scripting</vt:lpstr>
      <vt:lpstr>II. Réalisation de l’attaque </vt:lpstr>
      <vt:lpstr>1) Le mouvement latéral </vt:lpstr>
      <vt:lpstr>Pass the hash</vt:lpstr>
      <vt:lpstr>Man in the middle</vt:lpstr>
      <vt:lpstr>2) Acquisition des droits d’administrateurs </vt:lpstr>
      <vt:lpstr>2) Acquisition des droits d’administrateurs </vt:lpstr>
      <vt:lpstr>2) Acquisition des droits d’administrateurs </vt:lpstr>
      <vt:lpstr>3) Les actions des pirates et après l’attaque </vt:lpstr>
      <vt:lpstr>L’assaut</vt:lpstr>
      <vt:lpstr>L’exfiltration 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méthodologie d’une attaque</dc:title>
  <dc:creator>Robin BOUVIER</dc:creator>
  <cp:lastModifiedBy>Robin BOUVIER</cp:lastModifiedBy>
  <cp:revision>2</cp:revision>
  <dcterms:created xsi:type="dcterms:W3CDTF">2023-10-06T11:27:54Z</dcterms:created>
  <dcterms:modified xsi:type="dcterms:W3CDTF">2024-01-02T12:04:12Z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0x0101001D41CB8C2582AE41B65236C0F4C50215</vt:lpwstr>
  </property>
</Properties>
</file>